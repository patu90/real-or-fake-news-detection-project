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fntdata" ContentType="application/x-fontdata"/>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1"/>
  </p:notesMasterIdLst>
  <p:sldIdLst>
    <p:sldId id="256" r:id="rId2"/>
    <p:sldId id="257" r:id="rId3"/>
    <p:sldId id="259" r:id="rId4"/>
    <p:sldId id="260" r:id="rId5"/>
    <p:sldId id="261" r:id="rId6"/>
    <p:sldId id="262" r:id="rId7"/>
    <p:sldId id="266" r:id="rId8"/>
    <p:sldId id="263" r:id="rId9"/>
    <p:sldId id="265" r:id="rId10"/>
  </p:sldIdLst>
  <p:sldSz cx="14630400" cy="8229600"/>
  <p:notesSz cx="8229600" cy="14630400"/>
  <p:embeddedFontLst>
    <p:embeddedFont>
      <p:font typeface="Calibri" panose="020F0502020204030204" pitchFamily="34" charset="0"/>
      <p:regular r:id="rId12"/>
      <p:bold r:id="rId13"/>
      <p:italic r:id="rId14"/>
      <p:boldItalic r:id="rId15"/>
    </p:embeddedFont>
    <p:embeddedFont>
      <p:font typeface="Heebo Light" panose="020B0604020202020204" charset="-79"/>
      <p:regular r:id="rId16"/>
    </p:embeddedFont>
    <p:embeddedFont>
      <p:font typeface="Montserrat" panose="020B0604020202020204" charset="0"/>
      <p:regular r:id="rId17"/>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2" autoAdjust="0"/>
    <p:restoredTop sz="94328" autoAdjust="0"/>
  </p:normalViewPr>
  <p:slideViewPr>
    <p:cSldViewPr snapToGrid="0" snapToObjects="1">
      <p:cViewPr varScale="1">
        <p:scale>
          <a:sx n="57" d="100"/>
          <a:sy n="57" d="100"/>
        </p:scale>
        <p:origin x="556" y="56"/>
      </p:cViewPr>
      <p:guideLst/>
    </p:cSldViewPr>
  </p:slideViewPr>
  <p:outlineViewPr>
    <p:cViewPr>
      <p:scale>
        <a:sx n="33" d="100"/>
        <a:sy n="33" d="100"/>
      </p:scale>
      <p:origin x="0" y="0"/>
    </p:cViewPr>
  </p:outlin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2.fntdata"/><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font" Target="fonts/font1.fntdata"/><Relationship Id="rId17" Type="http://schemas.openxmlformats.org/officeDocument/2006/relationships/font" Target="fonts/font6.fntdata"/><Relationship Id="rId2" Type="http://schemas.openxmlformats.org/officeDocument/2006/relationships/slide" Target="slides/slide1.xml"/><Relationship Id="rId16" Type="http://schemas.openxmlformats.org/officeDocument/2006/relationships/font" Target="fonts/font5.fntdata"/><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font" Target="fonts/font4.fntdata"/><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3.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16711969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3.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4.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5.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6.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7.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8.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9.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10.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11.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D0A2C">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D0A2C">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D0A2C">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D0A2C">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D0A2C">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D0A2C">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D0A2C">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D0A2C">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D0A2C">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lide 10 master">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D0A2C">
              <a:alpha val="95000"/>
            </a:srgbClr>
          </a:solidFill>
          <a:ln/>
        </p:spPr>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3.xml"/><Relationship Id="rId4" Type="http://schemas.openxmlformats.org/officeDocument/2006/relationships/image" Target="../media/image3.jpg"/></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5.xml"/><Relationship Id="rId5" Type="http://schemas.openxmlformats.org/officeDocument/2006/relationships/image" Target="../media/image3.jpg"/><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6.xml"/><Relationship Id="rId5" Type="http://schemas.openxmlformats.org/officeDocument/2006/relationships/image" Target="../media/image3.jpg"/><Relationship Id="rId4" Type="http://schemas.openxmlformats.org/officeDocument/2006/relationships/image" Target="../media/image8.png"/></Relationships>
</file>

<file path=ppt/slides/_rels/slide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5.xml"/><Relationship Id="rId1" Type="http://schemas.openxmlformats.org/officeDocument/2006/relationships/slideLayout" Target="../slideLayouts/slideLayout7.xml"/><Relationship Id="rId5" Type="http://schemas.openxmlformats.org/officeDocument/2006/relationships/image" Target="../media/image3.jpg"/><Relationship Id="rId4" Type="http://schemas.openxmlformats.org/officeDocument/2006/relationships/image" Target="../media/image10.png"/></Relationships>
</file>

<file path=ppt/slides/_rels/slide6.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6.xml"/><Relationship Id="rId1" Type="http://schemas.openxmlformats.org/officeDocument/2006/relationships/slideLayout" Target="../slideLayouts/slideLayout8.xml"/><Relationship Id="rId5" Type="http://schemas.openxmlformats.org/officeDocument/2006/relationships/image" Target="../media/image12.png"/><Relationship Id="rId4" Type="http://schemas.openxmlformats.org/officeDocument/2006/relationships/image" Target="../media/image1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7.xml"/><Relationship Id="rId1" Type="http://schemas.openxmlformats.org/officeDocument/2006/relationships/slideLayout" Target="../slideLayouts/slideLayout9.xml"/><Relationship Id="rId4" Type="http://schemas.openxmlformats.org/officeDocument/2006/relationships/image" Target="../media/image13.jpg"/></Relationships>
</file>

<file path=ppt/slides/_rels/slide9.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notesSlide" Target="../notesSlides/notesSlide8.xml"/><Relationship Id="rId1" Type="http://schemas.openxmlformats.org/officeDocument/2006/relationships/slideLayout" Target="../slideLayouts/slideLayout11.xml"/><Relationship Id="rId5" Type="http://schemas.openxmlformats.org/officeDocument/2006/relationships/hyperlink" Target="http://phoenixajournal.wordpress.com/2012/02/23/thank-you/" TargetMode="External"/><Relationship Id="rId4" Type="http://schemas.openxmlformats.org/officeDocument/2006/relationships/image" Target="../media/image14.jpg"/></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3" name="Shape 0"/>
          <p:cNvSpPr/>
          <p:nvPr/>
        </p:nvSpPr>
        <p:spPr>
          <a:xfrm>
            <a:off x="-16644" y="-31529"/>
            <a:ext cx="14630400" cy="8229600"/>
          </a:xfrm>
          <a:prstGeom prst="rect">
            <a:avLst/>
          </a:prstGeom>
          <a:solidFill>
            <a:srgbClr val="0D0A2C">
              <a:alpha val="80000"/>
            </a:srgbClr>
          </a:solidFill>
          <a:ln/>
        </p:spPr>
        <p:txBody>
          <a:bodyPr/>
          <a:lstStyle/>
          <a:p>
            <a:endParaRPr lang="en-IN" dirty="0"/>
          </a:p>
        </p:txBody>
      </p:sp>
      <p:sp>
        <p:nvSpPr>
          <p:cNvPr id="4" name="Text 1"/>
          <p:cNvSpPr/>
          <p:nvPr/>
        </p:nvSpPr>
        <p:spPr>
          <a:xfrm>
            <a:off x="793790" y="2215396"/>
            <a:ext cx="9958983" cy="708779"/>
          </a:xfrm>
          <a:prstGeom prst="rect">
            <a:avLst/>
          </a:prstGeom>
          <a:noFill/>
          <a:ln/>
        </p:spPr>
        <p:txBody>
          <a:bodyPr wrap="none" lIns="0" tIns="0" rIns="0" bIns="0" rtlCol="0" anchor="t"/>
          <a:lstStyle/>
          <a:p>
            <a:pPr marL="0" indent="0">
              <a:lnSpc>
                <a:spcPts val="5550"/>
              </a:lnSpc>
              <a:buNone/>
            </a:pPr>
            <a:r>
              <a:rPr lang="en-US" sz="4450" b="1" dirty="0">
                <a:solidFill>
                  <a:srgbClr val="FFFF00"/>
                </a:solidFill>
                <a:latin typeface="Montserrat" pitchFamily="34" charset="0"/>
                <a:ea typeface="Montserrat" pitchFamily="34" charset="-122"/>
                <a:cs typeface="Montserrat" pitchFamily="34" charset="-120"/>
              </a:rPr>
              <a:t>P-467  REAL OR FAKE NEWS ANALYSIS</a:t>
            </a:r>
            <a:endParaRPr lang="en-US" sz="4450" b="1" dirty="0">
              <a:solidFill>
                <a:srgbClr val="FFFF00"/>
              </a:solidFill>
            </a:endParaRPr>
          </a:p>
        </p:txBody>
      </p:sp>
      <p:sp>
        <p:nvSpPr>
          <p:cNvPr id="5" name="Text 2"/>
          <p:cNvSpPr/>
          <p:nvPr/>
        </p:nvSpPr>
        <p:spPr>
          <a:xfrm>
            <a:off x="793790" y="3264337"/>
            <a:ext cx="13042821" cy="362903"/>
          </a:xfrm>
          <a:prstGeom prst="rect">
            <a:avLst/>
          </a:prstGeom>
          <a:noFill/>
          <a:ln/>
        </p:spPr>
        <p:txBody>
          <a:bodyPr wrap="none" lIns="0" tIns="0" rIns="0" bIns="0" rtlCol="0" anchor="t"/>
          <a:lstStyle/>
          <a:p>
            <a:pPr marL="0" indent="0">
              <a:lnSpc>
                <a:spcPts val="2850"/>
              </a:lnSpc>
              <a:buNone/>
            </a:pPr>
            <a:r>
              <a:rPr lang="en-US" sz="1750" b="1" dirty="0">
                <a:solidFill>
                  <a:srgbClr val="DCD7E5"/>
                </a:solidFill>
                <a:latin typeface="Heebo Light" pitchFamily="34" charset="0"/>
                <a:ea typeface="Heebo Light" pitchFamily="34" charset="-122"/>
                <a:cs typeface="Heebo Light" pitchFamily="34" charset="-120"/>
              </a:rPr>
              <a:t>Group - 4</a:t>
            </a:r>
            <a:endParaRPr lang="en-US" sz="1750" dirty="0"/>
          </a:p>
        </p:txBody>
      </p:sp>
      <p:sp>
        <p:nvSpPr>
          <p:cNvPr id="6" name="Text 3"/>
          <p:cNvSpPr/>
          <p:nvPr/>
        </p:nvSpPr>
        <p:spPr>
          <a:xfrm>
            <a:off x="793790" y="3882390"/>
            <a:ext cx="13042821" cy="362903"/>
          </a:xfrm>
          <a:prstGeom prst="rect">
            <a:avLst/>
          </a:prstGeom>
          <a:noFill/>
          <a:ln/>
        </p:spPr>
        <p:txBody>
          <a:bodyPr wrap="none" lIns="0" tIns="0" rIns="0" bIns="0" rtlCol="0" anchor="t"/>
          <a:lstStyle/>
          <a:p>
            <a:pPr marL="342900" indent="-342900" algn="l">
              <a:lnSpc>
                <a:spcPts val="2850"/>
              </a:lnSpc>
              <a:buSzPct val="100000"/>
              <a:buFont typeface="+mj-lt"/>
              <a:buAutoNum type="arabicPeriod"/>
            </a:pPr>
            <a:r>
              <a:rPr lang="en-US" sz="1750" dirty="0">
                <a:solidFill>
                  <a:srgbClr val="DCD7E5"/>
                </a:solidFill>
                <a:latin typeface="Heebo Light" pitchFamily="34" charset="0"/>
                <a:ea typeface="Heebo Light" pitchFamily="34" charset="-122"/>
                <a:cs typeface="Heebo Light" pitchFamily="34" charset="-120"/>
              </a:rPr>
              <a:t>Prathamesh Suryawanshi (prathameshsuryawanshi9090@gmail.com)</a:t>
            </a:r>
            <a:endParaRPr lang="en-US" sz="1750" dirty="0"/>
          </a:p>
        </p:txBody>
      </p:sp>
      <p:sp>
        <p:nvSpPr>
          <p:cNvPr id="7" name="Text 4"/>
          <p:cNvSpPr/>
          <p:nvPr/>
        </p:nvSpPr>
        <p:spPr>
          <a:xfrm>
            <a:off x="793790" y="4324588"/>
            <a:ext cx="13042821" cy="362903"/>
          </a:xfrm>
          <a:prstGeom prst="rect">
            <a:avLst/>
          </a:prstGeom>
          <a:noFill/>
          <a:ln/>
        </p:spPr>
        <p:txBody>
          <a:bodyPr wrap="none" lIns="0" tIns="0" rIns="0" bIns="0" rtlCol="0" anchor="t"/>
          <a:lstStyle/>
          <a:p>
            <a:pPr marL="342900" indent="-342900" algn="l">
              <a:lnSpc>
                <a:spcPts val="2850"/>
              </a:lnSpc>
              <a:buSzPct val="100000"/>
              <a:buFont typeface="+mj-lt"/>
              <a:buAutoNum type="arabicPeriod" startAt="2"/>
            </a:pPr>
            <a:r>
              <a:rPr lang="en-US" sz="1750" dirty="0">
                <a:solidFill>
                  <a:srgbClr val="DCD7E5"/>
                </a:solidFill>
                <a:latin typeface="Heebo Light" pitchFamily="34" charset="0"/>
                <a:ea typeface="Heebo Light" pitchFamily="34" charset="-122"/>
                <a:cs typeface="Heebo Light" pitchFamily="34" charset="-120"/>
              </a:rPr>
              <a:t>Sai Rakesh A.V. (avrakesh01@gmail.com)</a:t>
            </a:r>
            <a:endParaRPr lang="en-US" sz="1750" dirty="0"/>
          </a:p>
        </p:txBody>
      </p:sp>
      <p:sp>
        <p:nvSpPr>
          <p:cNvPr id="8" name="Text 5"/>
          <p:cNvSpPr/>
          <p:nvPr/>
        </p:nvSpPr>
        <p:spPr>
          <a:xfrm>
            <a:off x="793790" y="4766786"/>
            <a:ext cx="13042821" cy="362903"/>
          </a:xfrm>
          <a:prstGeom prst="rect">
            <a:avLst/>
          </a:prstGeom>
          <a:noFill/>
          <a:ln/>
        </p:spPr>
        <p:txBody>
          <a:bodyPr wrap="none" lIns="0" tIns="0" rIns="0" bIns="0" rtlCol="0" anchor="t"/>
          <a:lstStyle/>
          <a:p>
            <a:pPr marL="342900" indent="-342900" algn="l">
              <a:lnSpc>
                <a:spcPts val="2850"/>
              </a:lnSpc>
              <a:buSzPct val="100000"/>
              <a:buFont typeface="+mj-lt"/>
              <a:buAutoNum type="arabicPeriod" startAt="3"/>
            </a:pPr>
            <a:r>
              <a:rPr lang="en-US" sz="1750" dirty="0">
                <a:solidFill>
                  <a:srgbClr val="DCD7E5"/>
                </a:solidFill>
                <a:latin typeface="Heebo Light" pitchFamily="34" charset="0"/>
                <a:ea typeface="Heebo Light" pitchFamily="34" charset="-122"/>
                <a:cs typeface="Heebo Light" pitchFamily="34" charset="-120"/>
              </a:rPr>
              <a:t>Babu Muthuraman (babubasker320@gmail.com)</a:t>
            </a:r>
            <a:endParaRPr lang="en-US" sz="1750" dirty="0"/>
          </a:p>
        </p:txBody>
      </p:sp>
      <p:pic>
        <p:nvPicPr>
          <p:cNvPr id="12" name="Picture 11">
            <a:extLst>
              <a:ext uri="{FF2B5EF4-FFF2-40B4-BE49-F238E27FC236}">
                <a16:creationId xmlns:a16="http://schemas.microsoft.com/office/drawing/2014/main" id="{5B7EB3A0-A150-4683-A006-A01757F7D1C1}"/>
              </a:ext>
            </a:extLst>
          </p:cNvPr>
          <p:cNvPicPr>
            <a:picLocks noChangeAspect="1"/>
          </p:cNvPicPr>
          <p:nvPr/>
        </p:nvPicPr>
        <p:blipFill>
          <a:blip r:embed="rId3"/>
          <a:stretch>
            <a:fillRect/>
          </a:stretch>
        </p:blipFill>
        <p:spPr>
          <a:xfrm>
            <a:off x="12852400" y="7330631"/>
            <a:ext cx="1786756" cy="90554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5486400" cy="8229600"/>
          </a:xfrm>
          <a:prstGeom prst="rect">
            <a:avLst/>
          </a:prstGeom>
        </p:spPr>
      </p:pic>
      <p:sp>
        <p:nvSpPr>
          <p:cNvPr id="3" name="Text 0"/>
          <p:cNvSpPr/>
          <p:nvPr/>
        </p:nvSpPr>
        <p:spPr>
          <a:xfrm>
            <a:off x="6280190" y="1751528"/>
            <a:ext cx="7556421" cy="2934653"/>
          </a:xfrm>
          <a:prstGeom prst="rect">
            <a:avLst/>
          </a:prstGeom>
          <a:noFill/>
          <a:ln/>
        </p:spPr>
        <p:txBody>
          <a:bodyPr wrap="square" lIns="0" tIns="0" rIns="0" bIns="0" rtlCol="0" anchor="t"/>
          <a:lstStyle/>
          <a:p>
            <a:pPr marL="0" indent="0">
              <a:lnSpc>
                <a:spcPts val="7700"/>
              </a:lnSpc>
              <a:buNone/>
            </a:pPr>
            <a:r>
              <a:rPr lang="en-US" sz="6150" dirty="0">
                <a:solidFill>
                  <a:srgbClr val="F2F0F4"/>
                </a:solidFill>
                <a:latin typeface="Montserrat" pitchFamily="34" charset="0"/>
                <a:ea typeface="Montserrat" pitchFamily="34" charset="-122"/>
                <a:cs typeface="Montserrat" pitchFamily="34" charset="-120"/>
              </a:rPr>
              <a:t>Real or Fake </a:t>
            </a:r>
          </a:p>
          <a:p>
            <a:pPr marL="0" indent="0">
              <a:lnSpc>
                <a:spcPts val="7700"/>
              </a:lnSpc>
              <a:buNone/>
            </a:pPr>
            <a:r>
              <a:rPr lang="en-US" sz="6150" dirty="0">
                <a:solidFill>
                  <a:srgbClr val="F2F0F4"/>
                </a:solidFill>
                <a:latin typeface="Montserrat" pitchFamily="34" charset="0"/>
                <a:ea typeface="Montserrat" pitchFamily="34" charset="-122"/>
                <a:cs typeface="Montserrat" pitchFamily="34" charset="-120"/>
              </a:rPr>
              <a:t>News Analysis</a:t>
            </a:r>
            <a:endParaRPr lang="en-US" sz="6150" dirty="0"/>
          </a:p>
        </p:txBody>
      </p:sp>
      <p:pic>
        <p:nvPicPr>
          <p:cNvPr id="5" name="Picture 4">
            <a:extLst>
              <a:ext uri="{FF2B5EF4-FFF2-40B4-BE49-F238E27FC236}">
                <a16:creationId xmlns:a16="http://schemas.microsoft.com/office/drawing/2014/main" id="{A15A8A72-6FE2-4EFA-A2E6-862DAAE3FFE1}"/>
              </a:ext>
            </a:extLst>
          </p:cNvPr>
          <p:cNvPicPr>
            <a:picLocks noChangeAspect="1"/>
          </p:cNvPicPr>
          <p:nvPr/>
        </p:nvPicPr>
        <p:blipFill>
          <a:blip r:embed="rId4"/>
          <a:stretch>
            <a:fillRect/>
          </a:stretch>
        </p:blipFill>
        <p:spPr>
          <a:xfrm>
            <a:off x="12738100" y="7328440"/>
            <a:ext cx="1895982" cy="905540"/>
          </a:xfrm>
          <a:prstGeom prst="rect">
            <a:avLst/>
          </a:prstGeom>
        </p:spPr>
      </p:pic>
      <p:sp>
        <p:nvSpPr>
          <p:cNvPr id="6" name="Text 6">
            <a:extLst>
              <a:ext uri="{FF2B5EF4-FFF2-40B4-BE49-F238E27FC236}">
                <a16:creationId xmlns:a16="http://schemas.microsoft.com/office/drawing/2014/main" id="{09BE29B7-F91D-4068-9322-BFB7D8C0388C}"/>
              </a:ext>
            </a:extLst>
          </p:cNvPr>
          <p:cNvSpPr/>
          <p:nvPr/>
        </p:nvSpPr>
        <p:spPr>
          <a:xfrm>
            <a:off x="5912200" y="4263847"/>
            <a:ext cx="8266787" cy="1592943"/>
          </a:xfrm>
          <a:prstGeom prst="rect">
            <a:avLst/>
          </a:prstGeom>
          <a:noFill/>
          <a:ln/>
        </p:spPr>
        <p:txBody>
          <a:bodyPr wrap="none" lIns="0" tIns="0" rIns="0" bIns="0" rtlCol="0" anchor="t"/>
          <a:lstStyle/>
          <a:p>
            <a:pPr algn="l">
              <a:lnSpc>
                <a:spcPts val="2850"/>
              </a:lnSpc>
              <a:buSzPct val="100000"/>
            </a:pPr>
            <a:r>
              <a:rPr lang="en-US" sz="1750" dirty="0">
                <a:solidFill>
                  <a:srgbClr val="DCD7E5"/>
                </a:solidFill>
                <a:latin typeface="Heebo Light" pitchFamily="34" charset="0"/>
                <a:cs typeface="Heebo Light" pitchFamily="34" charset="-120"/>
              </a:rPr>
              <a:t>       This dataset consists of about 40000 articles consisting of Fake as well as Real </a:t>
            </a:r>
          </a:p>
          <a:p>
            <a:pPr algn="l">
              <a:lnSpc>
                <a:spcPts val="2850"/>
              </a:lnSpc>
              <a:buSzPct val="100000"/>
            </a:pPr>
            <a:r>
              <a:rPr lang="en-US" sz="1750" dirty="0">
                <a:solidFill>
                  <a:srgbClr val="DCD7E5"/>
                </a:solidFill>
                <a:latin typeface="Heebo Light" pitchFamily="34" charset="0"/>
                <a:cs typeface="Heebo Light" pitchFamily="34" charset="-120"/>
              </a:rPr>
              <a:t>       news. Our aim is train our model so that it can correctly predict whether a </a:t>
            </a:r>
          </a:p>
          <a:p>
            <a:pPr algn="l">
              <a:lnSpc>
                <a:spcPts val="2850"/>
              </a:lnSpc>
              <a:buSzPct val="100000"/>
            </a:pPr>
            <a:r>
              <a:rPr lang="en-US" sz="1750" dirty="0">
                <a:solidFill>
                  <a:srgbClr val="DCD7E5"/>
                </a:solidFill>
                <a:latin typeface="Heebo Light" pitchFamily="34" charset="0"/>
                <a:cs typeface="Heebo Light" pitchFamily="34" charset="-120"/>
              </a:rPr>
              <a:t>       given piece of news is real or fake. The fake and Real news data is given in two</a:t>
            </a:r>
          </a:p>
          <a:p>
            <a:pPr algn="l">
              <a:lnSpc>
                <a:spcPts val="2850"/>
              </a:lnSpc>
              <a:buSzPct val="100000"/>
            </a:pPr>
            <a:r>
              <a:rPr lang="en-US" sz="1750" dirty="0">
                <a:solidFill>
                  <a:srgbClr val="DCD7E5"/>
                </a:solidFill>
                <a:latin typeface="Heebo Light" pitchFamily="34" charset="0"/>
                <a:cs typeface="Heebo Light" pitchFamily="34" charset="-120"/>
              </a:rPr>
              <a:t>       separate datasets  with each dataset consisting around 20000 articles each.</a:t>
            </a:r>
            <a:endParaRPr lang="en-US" sz="17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793790" y="959644"/>
            <a:ext cx="5670590" cy="708779"/>
          </a:xfrm>
          <a:prstGeom prst="rect">
            <a:avLst/>
          </a:prstGeom>
          <a:noFill/>
          <a:ln/>
        </p:spPr>
        <p:txBody>
          <a:bodyPr wrap="none" lIns="0" tIns="0" rIns="0" bIns="0" rtlCol="0" anchor="t"/>
          <a:lstStyle/>
          <a:p>
            <a:pPr marL="0" indent="0">
              <a:lnSpc>
                <a:spcPts val="5550"/>
              </a:lnSpc>
              <a:buNone/>
            </a:pPr>
            <a:r>
              <a:rPr lang="en-US" sz="4450" dirty="0">
                <a:solidFill>
                  <a:srgbClr val="F2F0F4"/>
                </a:solidFill>
                <a:latin typeface="Montserrat" pitchFamily="34" charset="0"/>
                <a:ea typeface="Montserrat" pitchFamily="34" charset="-122"/>
                <a:cs typeface="Montserrat" pitchFamily="34" charset="-120"/>
              </a:rPr>
              <a:t>Methodology</a:t>
            </a:r>
            <a:endParaRPr lang="en-US" sz="4450" dirty="0"/>
          </a:p>
        </p:txBody>
      </p:sp>
      <p:sp>
        <p:nvSpPr>
          <p:cNvPr id="3" name="Shape 1"/>
          <p:cNvSpPr/>
          <p:nvPr/>
        </p:nvSpPr>
        <p:spPr>
          <a:xfrm>
            <a:off x="793790" y="2121932"/>
            <a:ext cx="13042821" cy="30480"/>
          </a:xfrm>
          <a:prstGeom prst="roundRect">
            <a:avLst>
              <a:gd name="adj" fmla="val 312558"/>
            </a:avLst>
          </a:prstGeom>
          <a:solidFill>
            <a:srgbClr val="4A2C85"/>
          </a:solidFill>
          <a:ln/>
        </p:spPr>
      </p:sp>
      <p:sp>
        <p:nvSpPr>
          <p:cNvPr id="4" name="Shape 2"/>
          <p:cNvSpPr/>
          <p:nvPr/>
        </p:nvSpPr>
        <p:spPr>
          <a:xfrm>
            <a:off x="3799284" y="1923514"/>
            <a:ext cx="396835" cy="396835"/>
          </a:xfrm>
          <a:prstGeom prst="roundRect">
            <a:avLst>
              <a:gd name="adj" fmla="val 24007"/>
            </a:avLst>
          </a:prstGeom>
          <a:solidFill>
            <a:srgbClr val="31136C"/>
          </a:solidFill>
          <a:ln w="7620">
            <a:solidFill>
              <a:srgbClr val="4A2C85"/>
            </a:solidFill>
            <a:prstDash val="solid"/>
          </a:ln>
        </p:spPr>
      </p:sp>
      <p:sp>
        <p:nvSpPr>
          <p:cNvPr id="5" name="Text 3"/>
          <p:cNvSpPr/>
          <p:nvPr/>
        </p:nvSpPr>
        <p:spPr>
          <a:xfrm>
            <a:off x="1167884" y="2462093"/>
            <a:ext cx="5659636" cy="425291"/>
          </a:xfrm>
          <a:prstGeom prst="rect">
            <a:avLst/>
          </a:prstGeom>
          <a:noFill/>
          <a:ln/>
        </p:spPr>
        <p:txBody>
          <a:bodyPr wrap="none" lIns="0" tIns="0" rIns="0" bIns="0" rtlCol="0" anchor="t"/>
          <a:lstStyle/>
          <a:p>
            <a:pPr marL="0" indent="0" algn="ctr">
              <a:lnSpc>
                <a:spcPts val="3300"/>
              </a:lnSpc>
              <a:buNone/>
            </a:pPr>
            <a:r>
              <a:rPr lang="en-US" sz="2650" b="1" dirty="0">
                <a:solidFill>
                  <a:srgbClr val="DCD7E5"/>
                </a:solidFill>
                <a:latin typeface="Montserrat" pitchFamily="34" charset="0"/>
                <a:ea typeface="Montserrat" pitchFamily="34" charset="-122"/>
                <a:cs typeface="Montserrat" pitchFamily="34" charset="-120"/>
              </a:rPr>
              <a:t>Exploratory Data Analysis (EDA)</a:t>
            </a:r>
            <a:endParaRPr lang="en-US" sz="2650" dirty="0"/>
          </a:p>
        </p:txBody>
      </p:sp>
      <p:sp>
        <p:nvSpPr>
          <p:cNvPr id="6" name="Text 4"/>
          <p:cNvSpPr/>
          <p:nvPr/>
        </p:nvSpPr>
        <p:spPr>
          <a:xfrm>
            <a:off x="1020604" y="3023473"/>
            <a:ext cx="5954316" cy="362903"/>
          </a:xfrm>
          <a:prstGeom prst="rect">
            <a:avLst/>
          </a:prstGeom>
          <a:noFill/>
          <a:ln/>
        </p:spPr>
        <p:txBody>
          <a:bodyPr wrap="none" lIns="0" tIns="0" rIns="0" bIns="0" rtlCol="0" anchor="t"/>
          <a:lstStyle/>
          <a:p>
            <a:pPr marL="342900" indent="-342900" algn="l">
              <a:lnSpc>
                <a:spcPts val="2850"/>
              </a:lnSpc>
              <a:buSzPct val="100000"/>
              <a:buChar char="•"/>
            </a:pPr>
            <a:r>
              <a:rPr lang="en-US" sz="1750" dirty="0">
                <a:solidFill>
                  <a:srgbClr val="DCD7E5"/>
                </a:solidFill>
                <a:latin typeface="Heebo Light" pitchFamily="34" charset="0"/>
                <a:ea typeface="Heebo Light" pitchFamily="34" charset="-122"/>
                <a:cs typeface="Heebo Light" pitchFamily="34" charset="-120"/>
              </a:rPr>
              <a:t>Data Shape : (23462, 5) ,(21411, 5)</a:t>
            </a:r>
            <a:endParaRPr lang="en-US" sz="1750" dirty="0"/>
          </a:p>
        </p:txBody>
      </p:sp>
      <p:sp>
        <p:nvSpPr>
          <p:cNvPr id="7" name="Text 5"/>
          <p:cNvSpPr/>
          <p:nvPr/>
        </p:nvSpPr>
        <p:spPr>
          <a:xfrm>
            <a:off x="1020604" y="3386376"/>
            <a:ext cx="5954316" cy="725805"/>
          </a:xfrm>
          <a:prstGeom prst="rect">
            <a:avLst/>
          </a:prstGeom>
          <a:noFill/>
          <a:ln/>
        </p:spPr>
        <p:txBody>
          <a:bodyPr wrap="square" lIns="0" tIns="0" rIns="0" bIns="0" rtlCol="0" anchor="t"/>
          <a:lstStyle/>
          <a:p>
            <a:pPr marL="342900" indent="-342900" algn="l">
              <a:lnSpc>
                <a:spcPts val="2850"/>
              </a:lnSpc>
              <a:buSzPct val="100000"/>
              <a:buChar char="•"/>
            </a:pPr>
            <a:r>
              <a:rPr lang="en-US" sz="1750" dirty="0">
                <a:solidFill>
                  <a:srgbClr val="DCD7E5"/>
                </a:solidFill>
                <a:latin typeface="Heebo Light" pitchFamily="34" charset="0"/>
                <a:ea typeface="Heebo Light" pitchFamily="34" charset="-122"/>
                <a:cs typeface="Heebo Light" pitchFamily="34" charset="-120"/>
              </a:rPr>
              <a:t>Duplicate Rows : 209</a:t>
            </a:r>
            <a:endParaRPr lang="en-US" sz="1750" dirty="0"/>
          </a:p>
        </p:txBody>
      </p:sp>
      <p:sp>
        <p:nvSpPr>
          <p:cNvPr id="8" name="Text 6"/>
          <p:cNvSpPr/>
          <p:nvPr/>
        </p:nvSpPr>
        <p:spPr>
          <a:xfrm>
            <a:off x="1020543" y="3771265"/>
            <a:ext cx="5954316" cy="362903"/>
          </a:xfrm>
          <a:prstGeom prst="rect">
            <a:avLst/>
          </a:prstGeom>
          <a:noFill/>
          <a:ln/>
        </p:spPr>
        <p:txBody>
          <a:bodyPr wrap="none" lIns="0" tIns="0" rIns="0" bIns="0" rtlCol="0" anchor="t"/>
          <a:lstStyle/>
          <a:p>
            <a:pPr marL="342900" indent="-342900" algn="l">
              <a:lnSpc>
                <a:spcPts val="2850"/>
              </a:lnSpc>
              <a:buSzPct val="100000"/>
              <a:buChar char="•"/>
            </a:pPr>
            <a:r>
              <a:rPr lang="en-US" sz="1750" dirty="0">
                <a:solidFill>
                  <a:srgbClr val="DCD7E5"/>
                </a:solidFill>
                <a:latin typeface="Heebo Light" pitchFamily="34" charset="0"/>
                <a:cs typeface="Heebo Light" pitchFamily="34" charset="-120"/>
              </a:rPr>
              <a:t>There are some null values and some duplicate values.</a:t>
            </a:r>
            <a:endParaRPr lang="en-US" sz="1750" dirty="0"/>
          </a:p>
        </p:txBody>
      </p:sp>
      <p:sp>
        <p:nvSpPr>
          <p:cNvPr id="10" name="Shape 8"/>
          <p:cNvSpPr/>
          <p:nvPr/>
        </p:nvSpPr>
        <p:spPr>
          <a:xfrm>
            <a:off x="10434042" y="1923514"/>
            <a:ext cx="396835" cy="396835"/>
          </a:xfrm>
          <a:prstGeom prst="roundRect">
            <a:avLst>
              <a:gd name="adj" fmla="val 24007"/>
            </a:avLst>
          </a:prstGeom>
          <a:solidFill>
            <a:srgbClr val="31136C"/>
          </a:solidFill>
          <a:ln w="7620">
            <a:solidFill>
              <a:srgbClr val="4A2C85"/>
            </a:solidFill>
            <a:prstDash val="solid"/>
          </a:ln>
        </p:spPr>
      </p:sp>
      <p:pic>
        <p:nvPicPr>
          <p:cNvPr id="17" name="Picture 16">
            <a:extLst>
              <a:ext uri="{FF2B5EF4-FFF2-40B4-BE49-F238E27FC236}">
                <a16:creationId xmlns:a16="http://schemas.microsoft.com/office/drawing/2014/main" id="{037DE65B-3141-47A0-A7D8-58775C1C4273}"/>
              </a:ext>
            </a:extLst>
          </p:cNvPr>
          <p:cNvPicPr>
            <a:picLocks noChangeAspect="1"/>
          </p:cNvPicPr>
          <p:nvPr/>
        </p:nvPicPr>
        <p:blipFill>
          <a:blip r:embed="rId3"/>
          <a:stretch>
            <a:fillRect/>
          </a:stretch>
        </p:blipFill>
        <p:spPr>
          <a:xfrm>
            <a:off x="7731561" y="2476380"/>
            <a:ext cx="5954435" cy="2890640"/>
          </a:xfrm>
          <a:prstGeom prst="rect">
            <a:avLst/>
          </a:prstGeom>
        </p:spPr>
      </p:pic>
      <p:pic>
        <p:nvPicPr>
          <p:cNvPr id="21" name="Picture 20">
            <a:extLst>
              <a:ext uri="{FF2B5EF4-FFF2-40B4-BE49-F238E27FC236}">
                <a16:creationId xmlns:a16="http://schemas.microsoft.com/office/drawing/2014/main" id="{C2FF1235-E41A-4BC5-B164-7F9BF969856C}"/>
              </a:ext>
            </a:extLst>
          </p:cNvPr>
          <p:cNvPicPr>
            <a:picLocks noChangeAspect="1"/>
          </p:cNvPicPr>
          <p:nvPr/>
        </p:nvPicPr>
        <p:blipFill>
          <a:blip r:embed="rId4"/>
          <a:stretch>
            <a:fillRect/>
          </a:stretch>
        </p:blipFill>
        <p:spPr>
          <a:xfrm>
            <a:off x="1020604" y="5133657"/>
            <a:ext cx="5954316" cy="2733040"/>
          </a:xfrm>
          <a:prstGeom prst="rect">
            <a:avLst/>
          </a:prstGeom>
        </p:spPr>
      </p:pic>
      <p:pic>
        <p:nvPicPr>
          <p:cNvPr id="22" name="Picture 21">
            <a:extLst>
              <a:ext uri="{FF2B5EF4-FFF2-40B4-BE49-F238E27FC236}">
                <a16:creationId xmlns:a16="http://schemas.microsoft.com/office/drawing/2014/main" id="{4EFB4477-FFB2-4F03-89B1-75BF346598F5}"/>
              </a:ext>
            </a:extLst>
          </p:cNvPr>
          <p:cNvPicPr>
            <a:picLocks noChangeAspect="1"/>
          </p:cNvPicPr>
          <p:nvPr/>
        </p:nvPicPr>
        <p:blipFill>
          <a:blip r:embed="rId5"/>
          <a:stretch>
            <a:fillRect/>
          </a:stretch>
        </p:blipFill>
        <p:spPr>
          <a:xfrm>
            <a:off x="12738100" y="7328440"/>
            <a:ext cx="1895982" cy="90554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793790" y="970464"/>
            <a:ext cx="4695944" cy="425291"/>
          </a:xfrm>
          <a:prstGeom prst="rect">
            <a:avLst/>
          </a:prstGeom>
          <a:noFill/>
          <a:ln/>
        </p:spPr>
        <p:txBody>
          <a:bodyPr wrap="none" lIns="0" tIns="0" rIns="0" bIns="0" rtlCol="0" anchor="t"/>
          <a:lstStyle/>
          <a:p>
            <a:pPr marL="0" indent="0">
              <a:lnSpc>
                <a:spcPts val="3300"/>
              </a:lnSpc>
              <a:buNone/>
            </a:pPr>
            <a:r>
              <a:rPr lang="en-US" sz="2650" dirty="0">
                <a:solidFill>
                  <a:srgbClr val="F2F0F4"/>
                </a:solidFill>
                <a:latin typeface="Montserrat" pitchFamily="34" charset="0"/>
                <a:ea typeface="Montserrat" pitchFamily="34" charset="-122"/>
                <a:cs typeface="Montserrat" pitchFamily="34" charset="-120"/>
              </a:rPr>
              <a:t>Model Building / Evaluation</a:t>
            </a:r>
            <a:endParaRPr lang="en-US" sz="2650" dirty="0"/>
          </a:p>
        </p:txBody>
      </p:sp>
      <p:sp>
        <p:nvSpPr>
          <p:cNvPr id="3" name="Text 1"/>
          <p:cNvSpPr/>
          <p:nvPr/>
        </p:nvSpPr>
        <p:spPr>
          <a:xfrm>
            <a:off x="786166" y="1664935"/>
            <a:ext cx="6244709" cy="792599"/>
          </a:xfrm>
          <a:prstGeom prst="rect">
            <a:avLst/>
          </a:prstGeom>
          <a:noFill/>
          <a:ln/>
        </p:spPr>
        <p:txBody>
          <a:bodyPr wrap="square" lIns="0" tIns="0" rIns="0" bIns="0" rtlCol="0" anchor="t"/>
          <a:lstStyle/>
          <a:p>
            <a:pPr marL="342900" indent="-342900" algn="l">
              <a:lnSpc>
                <a:spcPts val="2850"/>
              </a:lnSpc>
              <a:buSzPct val="100000"/>
              <a:buChar char="•"/>
            </a:pPr>
            <a:r>
              <a:rPr lang="en-US" sz="1750" dirty="0">
                <a:solidFill>
                  <a:srgbClr val="DCD7E5"/>
                </a:solidFill>
                <a:latin typeface="Heebo Light" pitchFamily="34" charset="0"/>
                <a:ea typeface="Heebo Light" pitchFamily="34" charset="-122"/>
                <a:cs typeface="Heebo Light" pitchFamily="34" charset="-120"/>
              </a:rPr>
              <a:t>Dropped unwanted columns .</a:t>
            </a:r>
            <a:endParaRPr lang="en-US" sz="1750" dirty="0"/>
          </a:p>
        </p:txBody>
      </p:sp>
      <p:sp>
        <p:nvSpPr>
          <p:cNvPr id="4" name="Text 2"/>
          <p:cNvSpPr/>
          <p:nvPr/>
        </p:nvSpPr>
        <p:spPr>
          <a:xfrm>
            <a:off x="786164" y="2611715"/>
            <a:ext cx="6244709" cy="362903"/>
          </a:xfrm>
          <a:prstGeom prst="rect">
            <a:avLst/>
          </a:prstGeom>
          <a:noFill/>
          <a:ln/>
        </p:spPr>
        <p:txBody>
          <a:bodyPr wrap="none" lIns="0" tIns="0" rIns="0" bIns="0" rtlCol="0" anchor="t"/>
          <a:lstStyle/>
          <a:p>
            <a:pPr marL="342900" indent="-342900" algn="l">
              <a:lnSpc>
                <a:spcPts val="2850"/>
              </a:lnSpc>
              <a:buSzPct val="100000"/>
              <a:buChar char="•"/>
            </a:pPr>
            <a:r>
              <a:rPr lang="en-US" sz="1750" dirty="0">
                <a:solidFill>
                  <a:srgbClr val="DCD7E5"/>
                </a:solidFill>
                <a:latin typeface="Heebo Light" pitchFamily="34" charset="0"/>
                <a:ea typeface="Heebo Light" pitchFamily="34" charset="-122"/>
                <a:cs typeface="Heebo Light" pitchFamily="34" charset="-120"/>
              </a:rPr>
              <a:t>Create different models like Logistic Regression,  Random Forest.</a:t>
            </a:r>
            <a:endParaRPr lang="en-US" sz="1750" dirty="0"/>
          </a:p>
        </p:txBody>
      </p:sp>
      <p:sp>
        <p:nvSpPr>
          <p:cNvPr id="5" name="Text 3"/>
          <p:cNvSpPr/>
          <p:nvPr/>
        </p:nvSpPr>
        <p:spPr>
          <a:xfrm>
            <a:off x="786165" y="2140151"/>
            <a:ext cx="6244709" cy="725805"/>
          </a:xfrm>
          <a:prstGeom prst="rect">
            <a:avLst/>
          </a:prstGeom>
          <a:noFill/>
          <a:ln/>
        </p:spPr>
        <p:txBody>
          <a:bodyPr wrap="square" lIns="0" tIns="0" rIns="0" bIns="0" rtlCol="0" anchor="t"/>
          <a:lstStyle/>
          <a:p>
            <a:pPr marL="342900" indent="-342900" algn="l">
              <a:lnSpc>
                <a:spcPts val="2850"/>
              </a:lnSpc>
              <a:buSzPct val="100000"/>
              <a:buChar char="•"/>
            </a:pPr>
            <a:r>
              <a:rPr lang="en-US" sz="1750" dirty="0">
                <a:solidFill>
                  <a:srgbClr val="DCD7E5"/>
                </a:solidFill>
                <a:latin typeface="Heebo Light" pitchFamily="34" charset="0"/>
                <a:ea typeface="Heebo Light" pitchFamily="34" charset="-122"/>
                <a:cs typeface="Heebo Light" pitchFamily="34" charset="-120"/>
              </a:rPr>
              <a:t>Splits the data into training and testing.</a:t>
            </a:r>
            <a:endParaRPr lang="en-US" sz="1750" dirty="0"/>
          </a:p>
        </p:txBody>
      </p:sp>
      <p:sp>
        <p:nvSpPr>
          <p:cNvPr id="7" name="Text 4"/>
          <p:cNvSpPr/>
          <p:nvPr/>
        </p:nvSpPr>
        <p:spPr>
          <a:xfrm>
            <a:off x="7599521" y="5590580"/>
            <a:ext cx="2835235" cy="354330"/>
          </a:xfrm>
          <a:prstGeom prst="rect">
            <a:avLst/>
          </a:prstGeom>
          <a:noFill/>
          <a:ln/>
        </p:spPr>
        <p:txBody>
          <a:bodyPr wrap="none" lIns="0" tIns="0" rIns="0" bIns="0" rtlCol="0" anchor="t"/>
          <a:lstStyle/>
          <a:p>
            <a:pPr marL="0" indent="0">
              <a:lnSpc>
                <a:spcPts val="2750"/>
              </a:lnSpc>
              <a:buNone/>
            </a:pPr>
            <a:endParaRPr lang="en-US" sz="2200" dirty="0"/>
          </a:p>
        </p:txBody>
      </p:sp>
      <p:sp>
        <p:nvSpPr>
          <p:cNvPr id="8" name="Text 5"/>
          <p:cNvSpPr/>
          <p:nvPr/>
        </p:nvSpPr>
        <p:spPr>
          <a:xfrm>
            <a:off x="7599521" y="6171724"/>
            <a:ext cx="6244709" cy="362903"/>
          </a:xfrm>
          <a:prstGeom prst="rect">
            <a:avLst/>
          </a:prstGeom>
          <a:noFill/>
          <a:ln/>
        </p:spPr>
        <p:txBody>
          <a:bodyPr wrap="none" lIns="0" tIns="0" rIns="0" bIns="0" rtlCol="0" anchor="t"/>
          <a:lstStyle/>
          <a:p>
            <a:pPr marL="0" indent="0">
              <a:lnSpc>
                <a:spcPts val="2850"/>
              </a:lnSpc>
              <a:buNone/>
            </a:pPr>
            <a:endParaRPr lang="en-US" sz="1750" dirty="0"/>
          </a:p>
        </p:txBody>
      </p:sp>
      <p:sp>
        <p:nvSpPr>
          <p:cNvPr id="10" name="Text 2">
            <a:extLst>
              <a:ext uri="{FF2B5EF4-FFF2-40B4-BE49-F238E27FC236}">
                <a16:creationId xmlns:a16="http://schemas.microsoft.com/office/drawing/2014/main" id="{E81B8550-B127-4119-8945-6F7354D05122}"/>
              </a:ext>
            </a:extLst>
          </p:cNvPr>
          <p:cNvSpPr/>
          <p:nvPr/>
        </p:nvSpPr>
        <p:spPr>
          <a:xfrm>
            <a:off x="786169" y="3625052"/>
            <a:ext cx="6244709" cy="362903"/>
          </a:xfrm>
          <a:prstGeom prst="rect">
            <a:avLst/>
          </a:prstGeom>
          <a:noFill/>
          <a:ln/>
        </p:spPr>
        <p:txBody>
          <a:bodyPr wrap="none" lIns="0" tIns="0" rIns="0" bIns="0" rtlCol="0" anchor="t"/>
          <a:lstStyle/>
          <a:p>
            <a:pPr marL="342900" indent="-342900" algn="l">
              <a:lnSpc>
                <a:spcPts val="2850"/>
              </a:lnSpc>
              <a:buSzPct val="100000"/>
              <a:buChar char="•"/>
            </a:pPr>
            <a:r>
              <a:rPr lang="en-US" sz="1750" dirty="0">
                <a:solidFill>
                  <a:srgbClr val="DCD7E5"/>
                </a:solidFill>
                <a:latin typeface="Heebo Light" pitchFamily="34" charset="0"/>
                <a:ea typeface="Heebo Light" pitchFamily="34" charset="-122"/>
                <a:cs typeface="Heebo Light" pitchFamily="34" charset="-120"/>
              </a:rPr>
              <a:t> Random Forest get best accuracy.</a:t>
            </a:r>
            <a:endParaRPr lang="en-US" sz="1750" dirty="0"/>
          </a:p>
        </p:txBody>
      </p:sp>
      <p:pic>
        <p:nvPicPr>
          <p:cNvPr id="13" name="Picture 12">
            <a:extLst>
              <a:ext uri="{FF2B5EF4-FFF2-40B4-BE49-F238E27FC236}">
                <a16:creationId xmlns:a16="http://schemas.microsoft.com/office/drawing/2014/main" id="{61CF49D2-1277-477E-8008-42B6E34B0542}"/>
              </a:ext>
            </a:extLst>
          </p:cNvPr>
          <p:cNvPicPr>
            <a:picLocks noChangeAspect="1"/>
          </p:cNvPicPr>
          <p:nvPr/>
        </p:nvPicPr>
        <p:blipFill>
          <a:blip r:embed="rId3"/>
          <a:stretch>
            <a:fillRect/>
          </a:stretch>
        </p:blipFill>
        <p:spPr>
          <a:xfrm>
            <a:off x="8533796" y="1505072"/>
            <a:ext cx="5429738" cy="3054228"/>
          </a:xfrm>
          <a:prstGeom prst="rect">
            <a:avLst/>
          </a:prstGeom>
        </p:spPr>
      </p:pic>
      <p:pic>
        <p:nvPicPr>
          <p:cNvPr id="15" name="Picture 14">
            <a:extLst>
              <a:ext uri="{FF2B5EF4-FFF2-40B4-BE49-F238E27FC236}">
                <a16:creationId xmlns:a16="http://schemas.microsoft.com/office/drawing/2014/main" id="{DA2C79B4-A60C-4989-8FB4-2A099C0B7B58}"/>
              </a:ext>
            </a:extLst>
          </p:cNvPr>
          <p:cNvPicPr>
            <a:picLocks noChangeAspect="1"/>
          </p:cNvPicPr>
          <p:nvPr/>
        </p:nvPicPr>
        <p:blipFill>
          <a:blip r:embed="rId4"/>
          <a:stretch>
            <a:fillRect/>
          </a:stretch>
        </p:blipFill>
        <p:spPr>
          <a:xfrm>
            <a:off x="1113243" y="4651849"/>
            <a:ext cx="5937956" cy="3340100"/>
          </a:xfrm>
          <a:prstGeom prst="rect">
            <a:avLst/>
          </a:prstGeom>
        </p:spPr>
      </p:pic>
      <p:pic>
        <p:nvPicPr>
          <p:cNvPr id="16" name="Picture 15">
            <a:extLst>
              <a:ext uri="{FF2B5EF4-FFF2-40B4-BE49-F238E27FC236}">
                <a16:creationId xmlns:a16="http://schemas.microsoft.com/office/drawing/2014/main" id="{A7DC237F-5EFA-445C-BEFC-7B1F2EE0BD02}"/>
              </a:ext>
            </a:extLst>
          </p:cNvPr>
          <p:cNvPicPr>
            <a:picLocks noChangeAspect="1"/>
          </p:cNvPicPr>
          <p:nvPr/>
        </p:nvPicPr>
        <p:blipFill>
          <a:blip r:embed="rId5"/>
          <a:stretch>
            <a:fillRect/>
          </a:stretch>
        </p:blipFill>
        <p:spPr>
          <a:xfrm>
            <a:off x="12738100" y="7328440"/>
            <a:ext cx="1895982" cy="905540"/>
          </a:xfrm>
          <a:prstGeom prst="rect">
            <a:avLst/>
          </a:prstGeom>
        </p:spPr>
      </p:pic>
      <p:sp>
        <p:nvSpPr>
          <p:cNvPr id="12" name="Text 2">
            <a:extLst>
              <a:ext uri="{FF2B5EF4-FFF2-40B4-BE49-F238E27FC236}">
                <a16:creationId xmlns:a16="http://schemas.microsoft.com/office/drawing/2014/main" id="{1351D745-C39F-470F-B43C-6D8769B0F9B0}"/>
              </a:ext>
            </a:extLst>
          </p:cNvPr>
          <p:cNvSpPr/>
          <p:nvPr/>
        </p:nvSpPr>
        <p:spPr>
          <a:xfrm>
            <a:off x="786163" y="3123313"/>
            <a:ext cx="6244709" cy="362903"/>
          </a:xfrm>
          <a:prstGeom prst="rect">
            <a:avLst/>
          </a:prstGeom>
          <a:noFill/>
          <a:ln/>
        </p:spPr>
        <p:txBody>
          <a:bodyPr wrap="none" lIns="0" tIns="0" rIns="0" bIns="0" rtlCol="0" anchor="t"/>
          <a:lstStyle/>
          <a:p>
            <a:pPr marL="342900" indent="-342900" algn="l">
              <a:lnSpc>
                <a:spcPts val="2850"/>
              </a:lnSpc>
              <a:buSzPct val="100000"/>
              <a:buChar char="•"/>
            </a:pPr>
            <a:r>
              <a:rPr lang="en-US" sz="1750" dirty="0">
                <a:solidFill>
                  <a:srgbClr val="DCD7E5"/>
                </a:solidFill>
                <a:latin typeface="Heebo Light" pitchFamily="34" charset="0"/>
                <a:ea typeface="Heebo Light" pitchFamily="34" charset="-122"/>
                <a:cs typeface="Heebo Light" pitchFamily="34" charset="-120"/>
              </a:rPr>
              <a:t>Evaluated model performance using Accuracy, Precision, Recall, F1 Score.</a:t>
            </a:r>
            <a:endParaRPr lang="en-US" sz="17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793790" y="878126"/>
            <a:ext cx="3713917" cy="425291"/>
          </a:xfrm>
          <a:prstGeom prst="rect">
            <a:avLst/>
          </a:prstGeom>
          <a:noFill/>
          <a:ln/>
        </p:spPr>
        <p:txBody>
          <a:bodyPr wrap="none" lIns="0" tIns="0" rIns="0" bIns="0" rtlCol="0" anchor="t"/>
          <a:lstStyle/>
          <a:p>
            <a:pPr marL="0" indent="0">
              <a:lnSpc>
                <a:spcPts val="3300"/>
              </a:lnSpc>
              <a:buNone/>
            </a:pPr>
            <a:r>
              <a:rPr lang="en-US" sz="2800" b="1" dirty="0">
                <a:solidFill>
                  <a:srgbClr val="F2F0F4"/>
                </a:solidFill>
                <a:latin typeface="Montserrat" pitchFamily="34" charset="0"/>
                <a:ea typeface="Montserrat" pitchFamily="34" charset="-122"/>
                <a:cs typeface="Montserrat" pitchFamily="34" charset="-120"/>
              </a:rPr>
              <a:t>Models</a:t>
            </a:r>
            <a:r>
              <a:rPr lang="en-US" sz="2650" b="1" dirty="0">
                <a:solidFill>
                  <a:srgbClr val="F2F0F4"/>
                </a:solidFill>
                <a:latin typeface="Montserrat" pitchFamily="34" charset="0"/>
                <a:ea typeface="Montserrat" pitchFamily="34" charset="-122"/>
                <a:cs typeface="Montserrat" pitchFamily="34" charset="-120"/>
              </a:rPr>
              <a:t> with Accuracy</a:t>
            </a:r>
            <a:endParaRPr lang="en-US" sz="2650" b="1" dirty="0"/>
          </a:p>
        </p:txBody>
      </p:sp>
      <p:sp>
        <p:nvSpPr>
          <p:cNvPr id="3" name="Text 1"/>
          <p:cNvSpPr/>
          <p:nvPr/>
        </p:nvSpPr>
        <p:spPr>
          <a:xfrm>
            <a:off x="793790" y="2293382"/>
            <a:ext cx="2835235" cy="354330"/>
          </a:xfrm>
          <a:prstGeom prst="rect">
            <a:avLst/>
          </a:prstGeom>
          <a:noFill/>
          <a:ln/>
        </p:spPr>
        <p:txBody>
          <a:bodyPr wrap="none" lIns="0" tIns="0" rIns="0" bIns="0" rtlCol="0" anchor="t"/>
          <a:lstStyle/>
          <a:p>
            <a:pPr marL="0" indent="0">
              <a:lnSpc>
                <a:spcPts val="2750"/>
              </a:lnSpc>
              <a:buNone/>
            </a:pPr>
            <a:endParaRPr lang="en-US" sz="2200" dirty="0"/>
          </a:p>
        </p:txBody>
      </p:sp>
      <p:sp>
        <p:nvSpPr>
          <p:cNvPr id="17" name="Text 15"/>
          <p:cNvSpPr/>
          <p:nvPr/>
        </p:nvSpPr>
        <p:spPr>
          <a:xfrm>
            <a:off x="7599521" y="6276380"/>
            <a:ext cx="6244709" cy="362903"/>
          </a:xfrm>
          <a:prstGeom prst="rect">
            <a:avLst/>
          </a:prstGeom>
          <a:noFill/>
          <a:ln/>
        </p:spPr>
        <p:txBody>
          <a:bodyPr wrap="none" lIns="0" tIns="0" rIns="0" bIns="0" rtlCol="0" anchor="t"/>
          <a:lstStyle/>
          <a:p>
            <a:pPr marL="0" indent="0">
              <a:lnSpc>
                <a:spcPts val="2850"/>
              </a:lnSpc>
              <a:buNone/>
            </a:pPr>
            <a:endParaRPr lang="en-US" sz="1750" dirty="0"/>
          </a:p>
        </p:txBody>
      </p:sp>
      <p:pic>
        <p:nvPicPr>
          <p:cNvPr id="20" name="Picture 19">
            <a:extLst>
              <a:ext uri="{FF2B5EF4-FFF2-40B4-BE49-F238E27FC236}">
                <a16:creationId xmlns:a16="http://schemas.microsoft.com/office/drawing/2014/main" id="{061C79DA-F703-48AD-A125-E29400A93A65}"/>
              </a:ext>
            </a:extLst>
          </p:cNvPr>
          <p:cNvPicPr>
            <a:picLocks noChangeAspect="1"/>
          </p:cNvPicPr>
          <p:nvPr/>
        </p:nvPicPr>
        <p:blipFill>
          <a:blip r:embed="rId3"/>
          <a:stretch>
            <a:fillRect/>
          </a:stretch>
        </p:blipFill>
        <p:spPr>
          <a:xfrm>
            <a:off x="566286" y="2146300"/>
            <a:ext cx="10662752" cy="2603499"/>
          </a:xfrm>
          <a:prstGeom prst="rect">
            <a:avLst/>
          </a:prstGeom>
        </p:spPr>
      </p:pic>
      <p:pic>
        <p:nvPicPr>
          <p:cNvPr id="22" name="Picture 21">
            <a:extLst>
              <a:ext uri="{FF2B5EF4-FFF2-40B4-BE49-F238E27FC236}">
                <a16:creationId xmlns:a16="http://schemas.microsoft.com/office/drawing/2014/main" id="{B03FCB94-1075-43B5-8219-65BD97DA5D70}"/>
              </a:ext>
            </a:extLst>
          </p:cNvPr>
          <p:cNvPicPr>
            <a:picLocks noChangeAspect="1"/>
          </p:cNvPicPr>
          <p:nvPr/>
        </p:nvPicPr>
        <p:blipFill>
          <a:blip r:embed="rId4"/>
          <a:stretch>
            <a:fillRect/>
          </a:stretch>
        </p:blipFill>
        <p:spPr>
          <a:xfrm>
            <a:off x="566286" y="5059917"/>
            <a:ext cx="10662752" cy="2603499"/>
          </a:xfrm>
          <a:prstGeom prst="rect">
            <a:avLst/>
          </a:prstGeom>
        </p:spPr>
      </p:pic>
      <p:pic>
        <p:nvPicPr>
          <p:cNvPr id="23" name="Picture 22">
            <a:extLst>
              <a:ext uri="{FF2B5EF4-FFF2-40B4-BE49-F238E27FC236}">
                <a16:creationId xmlns:a16="http://schemas.microsoft.com/office/drawing/2014/main" id="{40DB6426-40DA-4394-A9B3-82EA0569BAC4}"/>
              </a:ext>
            </a:extLst>
          </p:cNvPr>
          <p:cNvPicPr>
            <a:picLocks noChangeAspect="1"/>
          </p:cNvPicPr>
          <p:nvPr/>
        </p:nvPicPr>
        <p:blipFill>
          <a:blip r:embed="rId5"/>
          <a:stretch>
            <a:fillRect/>
          </a:stretch>
        </p:blipFill>
        <p:spPr>
          <a:xfrm>
            <a:off x="12738100" y="7328440"/>
            <a:ext cx="1895982" cy="90554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3" name="Text 0"/>
          <p:cNvSpPr/>
          <p:nvPr/>
        </p:nvSpPr>
        <p:spPr>
          <a:xfrm>
            <a:off x="682704" y="692706"/>
            <a:ext cx="4877038" cy="609600"/>
          </a:xfrm>
          <a:prstGeom prst="rect">
            <a:avLst/>
          </a:prstGeom>
          <a:noFill/>
          <a:ln/>
        </p:spPr>
        <p:txBody>
          <a:bodyPr wrap="none" lIns="0" tIns="0" rIns="0" bIns="0" rtlCol="0" anchor="t"/>
          <a:lstStyle/>
          <a:p>
            <a:pPr marL="0" indent="0">
              <a:lnSpc>
                <a:spcPts val="4800"/>
              </a:lnSpc>
              <a:buNone/>
            </a:pPr>
            <a:r>
              <a:rPr lang="en-US" sz="3800" dirty="0">
                <a:solidFill>
                  <a:srgbClr val="F2F0F4"/>
                </a:solidFill>
                <a:latin typeface="Montserrat" pitchFamily="34" charset="0"/>
                <a:ea typeface="Montserrat" pitchFamily="34" charset="-122"/>
                <a:cs typeface="Montserrat" pitchFamily="34" charset="-120"/>
              </a:rPr>
              <a:t>Result</a:t>
            </a:r>
            <a:endParaRPr lang="en-US" sz="3800" dirty="0"/>
          </a:p>
        </p:txBody>
      </p:sp>
      <p:sp>
        <p:nvSpPr>
          <p:cNvPr id="4" name="Shape 1"/>
          <p:cNvSpPr/>
          <p:nvPr/>
        </p:nvSpPr>
        <p:spPr>
          <a:xfrm>
            <a:off x="682704" y="1594842"/>
            <a:ext cx="7778591" cy="717471"/>
          </a:xfrm>
          <a:prstGeom prst="roundRect">
            <a:avLst>
              <a:gd name="adj" fmla="val 11420"/>
            </a:avLst>
          </a:prstGeom>
          <a:solidFill>
            <a:srgbClr val="31136C"/>
          </a:solidFill>
          <a:ln w="7620">
            <a:solidFill>
              <a:srgbClr val="4A2C85"/>
            </a:solidFill>
            <a:prstDash val="solid"/>
          </a:ln>
        </p:spPr>
      </p:sp>
      <p:sp>
        <p:nvSpPr>
          <p:cNvPr id="5" name="Text 2"/>
          <p:cNvSpPr/>
          <p:nvPr/>
        </p:nvSpPr>
        <p:spPr>
          <a:xfrm>
            <a:off x="885349" y="1797487"/>
            <a:ext cx="7373302" cy="312182"/>
          </a:xfrm>
          <a:prstGeom prst="rect">
            <a:avLst/>
          </a:prstGeom>
          <a:noFill/>
          <a:ln/>
        </p:spPr>
        <p:txBody>
          <a:bodyPr wrap="none" lIns="0" tIns="0" rIns="0" bIns="0" rtlCol="0" anchor="t"/>
          <a:lstStyle/>
          <a:p>
            <a:pPr marL="0" indent="0">
              <a:lnSpc>
                <a:spcPts val="2450"/>
              </a:lnSpc>
              <a:buNone/>
            </a:pPr>
            <a:r>
              <a:rPr lang="en-US" sz="1500" b="1" dirty="0">
                <a:solidFill>
                  <a:srgbClr val="DCD7E5"/>
                </a:solidFill>
                <a:latin typeface="Heebo Light" pitchFamily="34" charset="0"/>
                <a:ea typeface="Heebo Light" pitchFamily="34" charset="-122"/>
                <a:cs typeface="Heebo Light" pitchFamily="34" charset="-120"/>
              </a:rPr>
              <a:t>Model</a:t>
            </a:r>
            <a:r>
              <a:rPr lang="en-US" sz="1500" dirty="0">
                <a:solidFill>
                  <a:srgbClr val="DCD7E5"/>
                </a:solidFill>
                <a:latin typeface="Heebo Light" pitchFamily="34" charset="0"/>
                <a:ea typeface="Heebo Light" pitchFamily="34" charset="-122"/>
                <a:cs typeface="Heebo Light" pitchFamily="34" charset="-120"/>
              </a:rPr>
              <a:t> : Random Forest</a:t>
            </a:r>
            <a:endParaRPr lang="en-US" sz="1500" dirty="0"/>
          </a:p>
        </p:txBody>
      </p:sp>
      <p:sp>
        <p:nvSpPr>
          <p:cNvPr id="6" name="Shape 3"/>
          <p:cNvSpPr/>
          <p:nvPr/>
        </p:nvSpPr>
        <p:spPr>
          <a:xfrm>
            <a:off x="682704" y="2507337"/>
            <a:ext cx="7778591" cy="717471"/>
          </a:xfrm>
          <a:prstGeom prst="roundRect">
            <a:avLst>
              <a:gd name="adj" fmla="val 11420"/>
            </a:avLst>
          </a:prstGeom>
          <a:solidFill>
            <a:srgbClr val="31136C"/>
          </a:solidFill>
          <a:ln w="7620">
            <a:solidFill>
              <a:srgbClr val="4A2C85"/>
            </a:solidFill>
            <a:prstDash val="solid"/>
          </a:ln>
        </p:spPr>
      </p:sp>
      <p:sp>
        <p:nvSpPr>
          <p:cNvPr id="7" name="Text 4"/>
          <p:cNvSpPr/>
          <p:nvPr/>
        </p:nvSpPr>
        <p:spPr>
          <a:xfrm>
            <a:off x="885349" y="2709982"/>
            <a:ext cx="7373302" cy="312182"/>
          </a:xfrm>
          <a:prstGeom prst="rect">
            <a:avLst/>
          </a:prstGeom>
          <a:noFill/>
          <a:ln/>
        </p:spPr>
        <p:txBody>
          <a:bodyPr wrap="none" lIns="0" tIns="0" rIns="0" bIns="0" rtlCol="0" anchor="t"/>
          <a:lstStyle/>
          <a:p>
            <a:pPr marL="0" indent="0">
              <a:lnSpc>
                <a:spcPts val="2450"/>
              </a:lnSpc>
              <a:buNone/>
            </a:pPr>
            <a:r>
              <a:rPr lang="en-US" sz="1500" b="1" dirty="0">
                <a:solidFill>
                  <a:srgbClr val="DCD7E5"/>
                </a:solidFill>
                <a:latin typeface="Heebo Light" pitchFamily="34" charset="0"/>
                <a:ea typeface="Heebo Light" pitchFamily="34" charset="-122"/>
                <a:cs typeface="Heebo Light" pitchFamily="34" charset="-120"/>
              </a:rPr>
              <a:t>Data Partition details</a:t>
            </a:r>
            <a:r>
              <a:rPr lang="en-US" sz="1500" dirty="0">
                <a:solidFill>
                  <a:srgbClr val="DCD7E5"/>
                </a:solidFill>
                <a:latin typeface="Heebo Light" pitchFamily="34" charset="0"/>
                <a:ea typeface="Heebo Light" pitchFamily="34" charset="-122"/>
                <a:cs typeface="Heebo Light" pitchFamily="34" charset="-120"/>
              </a:rPr>
              <a:t> : Using sklearn train test split with ratio of 80:20</a:t>
            </a:r>
            <a:endParaRPr lang="en-US" sz="1500" dirty="0"/>
          </a:p>
        </p:txBody>
      </p:sp>
      <p:sp>
        <p:nvSpPr>
          <p:cNvPr id="8" name="Shape 5"/>
          <p:cNvSpPr/>
          <p:nvPr/>
        </p:nvSpPr>
        <p:spPr>
          <a:xfrm>
            <a:off x="682704" y="3419832"/>
            <a:ext cx="7778591" cy="4116943"/>
          </a:xfrm>
          <a:prstGeom prst="roundRect">
            <a:avLst>
              <a:gd name="adj" fmla="val 1990"/>
            </a:avLst>
          </a:prstGeom>
          <a:solidFill>
            <a:srgbClr val="31136C"/>
          </a:solidFill>
          <a:ln w="7620">
            <a:solidFill>
              <a:srgbClr val="4A2C85"/>
            </a:solidFill>
            <a:prstDash val="solid"/>
          </a:ln>
        </p:spPr>
      </p:sp>
      <p:sp>
        <p:nvSpPr>
          <p:cNvPr id="9" name="Text 6"/>
          <p:cNvSpPr/>
          <p:nvPr/>
        </p:nvSpPr>
        <p:spPr>
          <a:xfrm>
            <a:off x="885349" y="3622477"/>
            <a:ext cx="7373302" cy="312182"/>
          </a:xfrm>
          <a:prstGeom prst="rect">
            <a:avLst/>
          </a:prstGeom>
          <a:noFill/>
          <a:ln/>
        </p:spPr>
        <p:txBody>
          <a:bodyPr wrap="none" lIns="0" tIns="0" rIns="0" bIns="0" rtlCol="0" anchor="t"/>
          <a:lstStyle/>
          <a:p>
            <a:pPr marL="0" indent="0">
              <a:lnSpc>
                <a:spcPts val="2450"/>
              </a:lnSpc>
              <a:buNone/>
            </a:pPr>
            <a:r>
              <a:rPr lang="en-US" sz="1500" b="1" dirty="0">
                <a:solidFill>
                  <a:srgbClr val="DCD7E5"/>
                </a:solidFill>
                <a:latin typeface="Heebo Light" pitchFamily="34" charset="0"/>
                <a:ea typeface="Heebo Light" pitchFamily="34" charset="-122"/>
                <a:cs typeface="Heebo Light" pitchFamily="34" charset="-120"/>
              </a:rPr>
              <a:t>Random Forest Classifier Details : </a:t>
            </a:r>
            <a:endParaRPr lang="en-US" sz="1500" dirty="0"/>
          </a:p>
        </p:txBody>
      </p:sp>
      <p:sp>
        <p:nvSpPr>
          <p:cNvPr id="10" name="Text 7"/>
          <p:cNvSpPr/>
          <p:nvPr/>
        </p:nvSpPr>
        <p:spPr>
          <a:xfrm>
            <a:off x="885349" y="4051697"/>
            <a:ext cx="7373302" cy="1248728"/>
          </a:xfrm>
          <a:prstGeom prst="rect">
            <a:avLst/>
          </a:prstGeom>
          <a:noFill/>
          <a:ln/>
        </p:spPr>
        <p:txBody>
          <a:bodyPr wrap="square" lIns="0" tIns="0" rIns="0" bIns="0" rtlCol="0" anchor="t"/>
          <a:lstStyle/>
          <a:p>
            <a:pPr marL="0" indent="0">
              <a:lnSpc>
                <a:spcPts val="2450"/>
              </a:lnSpc>
              <a:buNone/>
            </a:pPr>
            <a:r>
              <a:rPr lang="en-US" sz="1500" dirty="0">
                <a:solidFill>
                  <a:srgbClr val="DCD7E5"/>
                </a:solidFill>
                <a:latin typeface="Heebo Light" pitchFamily="34" charset="0"/>
                <a:ea typeface="Heebo Light" pitchFamily="34" charset="-122"/>
                <a:cs typeface="Heebo Light" pitchFamily="34" charset="-120"/>
              </a:rPr>
              <a:t>For True or Fake news analysis, this model likely performed well due to its ability to handle various features and detect complex patterns. It provides insights into which features are most influential for predicting correct news. Its ensemble approach often results in higher accuracy compared to individual models.</a:t>
            </a:r>
            <a:endParaRPr lang="en-US" sz="1500" dirty="0"/>
          </a:p>
        </p:txBody>
      </p:sp>
      <p:pic>
        <p:nvPicPr>
          <p:cNvPr id="12" name="Picture 11">
            <a:extLst>
              <a:ext uri="{FF2B5EF4-FFF2-40B4-BE49-F238E27FC236}">
                <a16:creationId xmlns:a16="http://schemas.microsoft.com/office/drawing/2014/main" id="{D101B80F-7513-4E72-B18C-62D4D7289D29}"/>
              </a:ext>
            </a:extLst>
          </p:cNvPr>
          <p:cNvPicPr>
            <a:picLocks noChangeAspect="1"/>
          </p:cNvPicPr>
          <p:nvPr/>
        </p:nvPicPr>
        <p:blipFill>
          <a:blip r:embed="rId3"/>
          <a:stretch>
            <a:fillRect/>
          </a:stretch>
        </p:blipFill>
        <p:spPr>
          <a:xfrm>
            <a:off x="12875172" y="7303040"/>
            <a:ext cx="1644610" cy="905540"/>
          </a:xfrm>
          <a:prstGeom prst="rect">
            <a:avLst/>
          </a:prstGeom>
        </p:spPr>
      </p:pic>
      <p:pic>
        <p:nvPicPr>
          <p:cNvPr id="14" name="Picture 13">
            <a:extLst>
              <a:ext uri="{FF2B5EF4-FFF2-40B4-BE49-F238E27FC236}">
                <a16:creationId xmlns:a16="http://schemas.microsoft.com/office/drawing/2014/main" id="{87740784-241F-4DF6-9FF6-D41D43DFFB79}"/>
              </a:ext>
            </a:extLst>
          </p:cNvPr>
          <p:cNvPicPr>
            <a:picLocks noChangeAspect="1"/>
          </p:cNvPicPr>
          <p:nvPr/>
        </p:nvPicPr>
        <p:blipFill>
          <a:blip r:embed="rId4"/>
          <a:stretch>
            <a:fillRect/>
          </a:stretch>
        </p:blipFill>
        <p:spPr>
          <a:xfrm>
            <a:off x="1517804" y="5838958"/>
            <a:ext cx="6108390" cy="895742"/>
          </a:xfrm>
          <a:prstGeom prst="rect">
            <a:avLst/>
          </a:prstGeom>
        </p:spPr>
      </p:pic>
      <p:pic>
        <p:nvPicPr>
          <p:cNvPr id="18" name="Picture 17">
            <a:extLst>
              <a:ext uri="{FF2B5EF4-FFF2-40B4-BE49-F238E27FC236}">
                <a16:creationId xmlns:a16="http://schemas.microsoft.com/office/drawing/2014/main" id="{7AC8D85A-D87F-4F3C-8D06-1B4A5819F4C2}"/>
              </a:ext>
            </a:extLst>
          </p:cNvPr>
          <p:cNvPicPr>
            <a:picLocks noChangeAspect="1"/>
          </p:cNvPicPr>
          <p:nvPr/>
        </p:nvPicPr>
        <p:blipFill>
          <a:blip r:embed="rId5"/>
          <a:stretch>
            <a:fillRect/>
          </a:stretch>
        </p:blipFill>
        <p:spPr>
          <a:xfrm>
            <a:off x="9380338" y="-38100"/>
            <a:ext cx="5265138" cy="8280400"/>
          </a:xfrm>
          <a:prstGeom prst="rect">
            <a:avLst/>
          </a:prstGeom>
        </p:spPr>
      </p:pic>
      <p:pic>
        <p:nvPicPr>
          <p:cNvPr id="19" name="Picture 18">
            <a:extLst>
              <a:ext uri="{FF2B5EF4-FFF2-40B4-BE49-F238E27FC236}">
                <a16:creationId xmlns:a16="http://schemas.microsoft.com/office/drawing/2014/main" id="{70B48ABB-8CC5-4406-957A-3EDFD675DF53}"/>
              </a:ext>
            </a:extLst>
          </p:cNvPr>
          <p:cNvPicPr>
            <a:picLocks noChangeAspect="1"/>
          </p:cNvPicPr>
          <p:nvPr/>
        </p:nvPicPr>
        <p:blipFill>
          <a:blip r:embed="rId3"/>
          <a:stretch>
            <a:fillRect/>
          </a:stretch>
        </p:blipFill>
        <p:spPr>
          <a:xfrm>
            <a:off x="12738100" y="7328440"/>
            <a:ext cx="1895982" cy="90554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B4CD181A-4834-4154-B107-EA83D23BC1EA}"/>
              </a:ext>
            </a:extLst>
          </p:cNvPr>
          <p:cNvSpPr/>
          <p:nvPr/>
        </p:nvSpPr>
        <p:spPr>
          <a:xfrm>
            <a:off x="793790" y="1120259"/>
            <a:ext cx="10835521" cy="708779"/>
          </a:xfrm>
          <a:prstGeom prst="rect">
            <a:avLst/>
          </a:prstGeom>
          <a:noFill/>
          <a:ln/>
        </p:spPr>
        <p:txBody>
          <a:bodyPr wrap="none" lIns="0" tIns="0" rIns="0" bIns="0" rtlCol="0" anchor="t"/>
          <a:lstStyle/>
          <a:p>
            <a:pPr marL="0" indent="0">
              <a:lnSpc>
                <a:spcPts val="5550"/>
              </a:lnSpc>
              <a:buNone/>
            </a:pPr>
            <a:r>
              <a:rPr lang="en-US" sz="4450" dirty="0">
                <a:solidFill>
                  <a:srgbClr val="F2F0F4"/>
                </a:solidFill>
                <a:latin typeface="Montserrat" pitchFamily="34" charset="0"/>
                <a:ea typeface="Montserrat" pitchFamily="34" charset="-122"/>
                <a:cs typeface="Montserrat" pitchFamily="34" charset="-120"/>
              </a:rPr>
              <a:t>Challenges faced :</a:t>
            </a:r>
            <a:endParaRPr lang="en-US" sz="4450" dirty="0"/>
          </a:p>
        </p:txBody>
      </p:sp>
      <p:sp>
        <p:nvSpPr>
          <p:cNvPr id="4" name="Text 2">
            <a:extLst>
              <a:ext uri="{FF2B5EF4-FFF2-40B4-BE49-F238E27FC236}">
                <a16:creationId xmlns:a16="http://schemas.microsoft.com/office/drawing/2014/main" id="{4A2606B9-7EA3-4A7E-97F2-3C1A0CA3E2A6}"/>
              </a:ext>
            </a:extLst>
          </p:cNvPr>
          <p:cNvSpPr/>
          <p:nvPr/>
        </p:nvSpPr>
        <p:spPr>
          <a:xfrm>
            <a:off x="786169" y="2619537"/>
            <a:ext cx="6244709" cy="362903"/>
          </a:xfrm>
          <a:prstGeom prst="rect">
            <a:avLst/>
          </a:prstGeom>
          <a:noFill/>
          <a:ln/>
        </p:spPr>
        <p:txBody>
          <a:bodyPr wrap="none" lIns="0" tIns="0" rIns="0" bIns="0" rtlCol="0" anchor="t"/>
          <a:lstStyle/>
          <a:p>
            <a:pPr marL="342900" indent="-342900" algn="l">
              <a:lnSpc>
                <a:spcPts val="2850"/>
              </a:lnSpc>
              <a:buSzPct val="100000"/>
              <a:buChar char="•"/>
            </a:pPr>
            <a:r>
              <a:rPr lang="en-US" sz="1750" dirty="0">
                <a:solidFill>
                  <a:srgbClr val="DCD7E5"/>
                </a:solidFill>
                <a:latin typeface="Heebo Light" pitchFamily="34" charset="0"/>
                <a:ea typeface="Heebo Light" pitchFamily="34" charset="-122"/>
                <a:cs typeface="Heebo Light" pitchFamily="34" charset="-120"/>
              </a:rPr>
              <a:t>Working on 2 different dataset.</a:t>
            </a:r>
            <a:endParaRPr lang="en-US" sz="1750" dirty="0"/>
          </a:p>
        </p:txBody>
      </p:sp>
      <p:sp>
        <p:nvSpPr>
          <p:cNvPr id="5" name="Text 2">
            <a:extLst>
              <a:ext uri="{FF2B5EF4-FFF2-40B4-BE49-F238E27FC236}">
                <a16:creationId xmlns:a16="http://schemas.microsoft.com/office/drawing/2014/main" id="{56D6A9C0-7ED8-47E1-8177-4FFD1204BB0F}"/>
              </a:ext>
            </a:extLst>
          </p:cNvPr>
          <p:cNvSpPr/>
          <p:nvPr/>
        </p:nvSpPr>
        <p:spPr>
          <a:xfrm>
            <a:off x="786168" y="2133562"/>
            <a:ext cx="6244709" cy="362903"/>
          </a:xfrm>
          <a:prstGeom prst="rect">
            <a:avLst/>
          </a:prstGeom>
          <a:noFill/>
          <a:ln/>
        </p:spPr>
        <p:txBody>
          <a:bodyPr wrap="none" lIns="0" tIns="0" rIns="0" bIns="0" rtlCol="0" anchor="t"/>
          <a:lstStyle/>
          <a:p>
            <a:pPr marL="342900" indent="-342900" algn="l">
              <a:lnSpc>
                <a:spcPts val="2850"/>
              </a:lnSpc>
              <a:buSzPct val="100000"/>
              <a:buChar char="•"/>
            </a:pPr>
            <a:r>
              <a:rPr lang="en-US" sz="1750" dirty="0">
                <a:solidFill>
                  <a:srgbClr val="DCD7E5"/>
                </a:solidFill>
                <a:latin typeface="Heebo Light" pitchFamily="34" charset="0"/>
                <a:ea typeface="Heebo Light" pitchFamily="34" charset="-122"/>
                <a:cs typeface="Heebo Light" pitchFamily="34" charset="-120"/>
              </a:rPr>
              <a:t>Data Understanding .</a:t>
            </a:r>
            <a:endParaRPr lang="en-US" sz="1750" dirty="0"/>
          </a:p>
        </p:txBody>
      </p:sp>
      <p:sp>
        <p:nvSpPr>
          <p:cNvPr id="6" name="Text 2">
            <a:extLst>
              <a:ext uri="{FF2B5EF4-FFF2-40B4-BE49-F238E27FC236}">
                <a16:creationId xmlns:a16="http://schemas.microsoft.com/office/drawing/2014/main" id="{06DF9B86-7628-40D2-8F09-B6717B0BDDA5}"/>
              </a:ext>
            </a:extLst>
          </p:cNvPr>
          <p:cNvSpPr/>
          <p:nvPr/>
        </p:nvSpPr>
        <p:spPr>
          <a:xfrm>
            <a:off x="786169" y="3105512"/>
            <a:ext cx="6244709" cy="362903"/>
          </a:xfrm>
          <a:prstGeom prst="rect">
            <a:avLst/>
          </a:prstGeom>
          <a:noFill/>
          <a:ln/>
        </p:spPr>
        <p:txBody>
          <a:bodyPr wrap="none" lIns="0" tIns="0" rIns="0" bIns="0" rtlCol="0" anchor="t"/>
          <a:lstStyle/>
          <a:p>
            <a:pPr marL="342900" indent="-342900" algn="l">
              <a:lnSpc>
                <a:spcPts val="2850"/>
              </a:lnSpc>
              <a:buSzPct val="100000"/>
              <a:buChar char="•"/>
            </a:pPr>
            <a:r>
              <a:rPr lang="en-US" sz="1750" dirty="0">
                <a:solidFill>
                  <a:srgbClr val="DCD7E5"/>
                </a:solidFill>
                <a:latin typeface="Heebo Light" pitchFamily="34" charset="0"/>
                <a:ea typeface="Heebo Light" pitchFamily="34" charset="-122"/>
                <a:cs typeface="Heebo Light" pitchFamily="34" charset="-120"/>
              </a:rPr>
              <a:t>Model Overfitting.</a:t>
            </a:r>
            <a:endParaRPr lang="en-US" sz="1750" dirty="0"/>
          </a:p>
        </p:txBody>
      </p:sp>
      <p:sp>
        <p:nvSpPr>
          <p:cNvPr id="7" name="Text 2">
            <a:extLst>
              <a:ext uri="{FF2B5EF4-FFF2-40B4-BE49-F238E27FC236}">
                <a16:creationId xmlns:a16="http://schemas.microsoft.com/office/drawing/2014/main" id="{1AC08B28-180F-4059-AC29-A5E18AAA10F8}"/>
              </a:ext>
            </a:extLst>
          </p:cNvPr>
          <p:cNvSpPr/>
          <p:nvPr/>
        </p:nvSpPr>
        <p:spPr>
          <a:xfrm>
            <a:off x="786167" y="3590410"/>
            <a:ext cx="6244709" cy="362903"/>
          </a:xfrm>
          <a:prstGeom prst="rect">
            <a:avLst/>
          </a:prstGeom>
          <a:noFill/>
          <a:ln/>
        </p:spPr>
        <p:txBody>
          <a:bodyPr wrap="none" lIns="0" tIns="0" rIns="0" bIns="0" rtlCol="0" anchor="t"/>
          <a:lstStyle/>
          <a:p>
            <a:pPr marL="342900" indent="-342900" algn="l">
              <a:lnSpc>
                <a:spcPts val="2850"/>
              </a:lnSpc>
              <a:buSzPct val="100000"/>
              <a:buChar char="•"/>
            </a:pPr>
            <a:r>
              <a:rPr lang="en-US" sz="1750" dirty="0">
                <a:solidFill>
                  <a:srgbClr val="DCD7E5"/>
                </a:solidFill>
                <a:latin typeface="Heebo Light" pitchFamily="34" charset="0"/>
                <a:ea typeface="Heebo Light" pitchFamily="34" charset="-122"/>
                <a:cs typeface="Heebo Light" pitchFamily="34" charset="-120"/>
              </a:rPr>
              <a:t>Stream lit issue.</a:t>
            </a:r>
            <a:endParaRPr lang="en-US" sz="1750" dirty="0"/>
          </a:p>
        </p:txBody>
      </p:sp>
      <p:sp>
        <p:nvSpPr>
          <p:cNvPr id="8" name="Text 0">
            <a:extLst>
              <a:ext uri="{FF2B5EF4-FFF2-40B4-BE49-F238E27FC236}">
                <a16:creationId xmlns:a16="http://schemas.microsoft.com/office/drawing/2014/main" id="{C72D617C-80D3-4BED-A33F-B5A11290A7FF}"/>
              </a:ext>
            </a:extLst>
          </p:cNvPr>
          <p:cNvSpPr/>
          <p:nvPr/>
        </p:nvSpPr>
        <p:spPr>
          <a:xfrm>
            <a:off x="946190" y="4661907"/>
            <a:ext cx="10835521" cy="708779"/>
          </a:xfrm>
          <a:prstGeom prst="rect">
            <a:avLst/>
          </a:prstGeom>
          <a:noFill/>
          <a:ln/>
        </p:spPr>
        <p:txBody>
          <a:bodyPr wrap="none" lIns="0" tIns="0" rIns="0" bIns="0" rtlCol="0" anchor="t"/>
          <a:lstStyle/>
          <a:p>
            <a:pPr marL="0" indent="0">
              <a:lnSpc>
                <a:spcPts val="5550"/>
              </a:lnSpc>
              <a:buNone/>
            </a:pPr>
            <a:r>
              <a:rPr lang="en-US" sz="4450" dirty="0">
                <a:solidFill>
                  <a:srgbClr val="F2F0F4"/>
                </a:solidFill>
                <a:latin typeface="Montserrat" pitchFamily="34" charset="0"/>
                <a:ea typeface="Montserrat" pitchFamily="34" charset="-122"/>
                <a:cs typeface="Montserrat" pitchFamily="34" charset="-120"/>
              </a:rPr>
              <a:t>How did you overcome ?</a:t>
            </a:r>
            <a:endParaRPr lang="en-US" sz="4450" dirty="0"/>
          </a:p>
        </p:txBody>
      </p:sp>
      <p:sp>
        <p:nvSpPr>
          <p:cNvPr id="9" name="Text 2">
            <a:extLst>
              <a:ext uri="{FF2B5EF4-FFF2-40B4-BE49-F238E27FC236}">
                <a16:creationId xmlns:a16="http://schemas.microsoft.com/office/drawing/2014/main" id="{03FDA65E-3E7F-4FE8-AC11-45E74A8D5676}"/>
              </a:ext>
            </a:extLst>
          </p:cNvPr>
          <p:cNvSpPr/>
          <p:nvPr/>
        </p:nvSpPr>
        <p:spPr>
          <a:xfrm>
            <a:off x="786166" y="5632780"/>
            <a:ext cx="6244709" cy="362903"/>
          </a:xfrm>
          <a:prstGeom prst="rect">
            <a:avLst/>
          </a:prstGeom>
          <a:noFill/>
          <a:ln/>
        </p:spPr>
        <p:txBody>
          <a:bodyPr wrap="none" lIns="0" tIns="0" rIns="0" bIns="0" rtlCol="0" anchor="t"/>
          <a:lstStyle/>
          <a:p>
            <a:pPr marL="342900" indent="-342900" algn="l">
              <a:lnSpc>
                <a:spcPts val="2850"/>
              </a:lnSpc>
              <a:buSzPct val="100000"/>
              <a:buChar char="•"/>
            </a:pPr>
            <a:r>
              <a:rPr lang="en-US" sz="1750" dirty="0">
                <a:solidFill>
                  <a:srgbClr val="DCD7E5"/>
                </a:solidFill>
                <a:latin typeface="Heebo Light" pitchFamily="34" charset="0"/>
                <a:ea typeface="Heebo Light" pitchFamily="34" charset="-122"/>
                <a:cs typeface="Heebo Light" pitchFamily="34" charset="-120"/>
              </a:rPr>
              <a:t>Git hub used for fie sharing , dynamic work progress updates.</a:t>
            </a:r>
            <a:endParaRPr lang="en-US" sz="1750" dirty="0"/>
          </a:p>
        </p:txBody>
      </p:sp>
      <p:sp>
        <p:nvSpPr>
          <p:cNvPr id="10" name="Text 2">
            <a:extLst>
              <a:ext uri="{FF2B5EF4-FFF2-40B4-BE49-F238E27FC236}">
                <a16:creationId xmlns:a16="http://schemas.microsoft.com/office/drawing/2014/main" id="{7831AA37-B9DD-4A36-8B89-157BD3D8D7B7}"/>
              </a:ext>
            </a:extLst>
          </p:cNvPr>
          <p:cNvSpPr/>
          <p:nvPr/>
        </p:nvSpPr>
        <p:spPr>
          <a:xfrm>
            <a:off x="786165" y="6076325"/>
            <a:ext cx="6244709" cy="222875"/>
          </a:xfrm>
          <a:prstGeom prst="rect">
            <a:avLst/>
          </a:prstGeom>
          <a:noFill/>
          <a:ln/>
        </p:spPr>
        <p:txBody>
          <a:bodyPr wrap="none" lIns="0" tIns="0" rIns="0" bIns="0" rtlCol="0" anchor="t"/>
          <a:lstStyle/>
          <a:p>
            <a:pPr marL="342900" indent="-342900" algn="l">
              <a:lnSpc>
                <a:spcPts val="2850"/>
              </a:lnSpc>
              <a:buSzPct val="100000"/>
              <a:buChar char="•"/>
            </a:pPr>
            <a:r>
              <a:rPr lang="en-US" sz="1750" dirty="0">
                <a:solidFill>
                  <a:srgbClr val="DCD7E5"/>
                </a:solidFill>
                <a:latin typeface="Heebo Light" pitchFamily="34" charset="0"/>
                <a:ea typeface="Heebo Light" pitchFamily="34" charset="-122"/>
                <a:cs typeface="Heebo Light" pitchFamily="34" charset="-120"/>
              </a:rPr>
              <a:t>Get help of mentor.</a:t>
            </a:r>
            <a:endParaRPr lang="en-US" sz="1750" dirty="0"/>
          </a:p>
        </p:txBody>
      </p:sp>
      <p:sp>
        <p:nvSpPr>
          <p:cNvPr id="11" name="Text 2">
            <a:extLst>
              <a:ext uri="{FF2B5EF4-FFF2-40B4-BE49-F238E27FC236}">
                <a16:creationId xmlns:a16="http://schemas.microsoft.com/office/drawing/2014/main" id="{07FA3E6F-E91E-4D2A-B48E-101BC2EB25A7}"/>
              </a:ext>
            </a:extLst>
          </p:cNvPr>
          <p:cNvSpPr/>
          <p:nvPr/>
        </p:nvSpPr>
        <p:spPr>
          <a:xfrm>
            <a:off x="793790" y="6488327"/>
            <a:ext cx="6244709" cy="362903"/>
          </a:xfrm>
          <a:prstGeom prst="rect">
            <a:avLst/>
          </a:prstGeom>
          <a:noFill/>
          <a:ln/>
        </p:spPr>
        <p:txBody>
          <a:bodyPr wrap="none" lIns="0" tIns="0" rIns="0" bIns="0" rtlCol="0" anchor="t"/>
          <a:lstStyle/>
          <a:p>
            <a:pPr marL="342900" indent="-342900" algn="l">
              <a:lnSpc>
                <a:spcPts val="2850"/>
              </a:lnSpc>
              <a:buSzPct val="100000"/>
              <a:buChar char="•"/>
            </a:pPr>
            <a:r>
              <a:rPr lang="en-US" sz="1750" dirty="0">
                <a:solidFill>
                  <a:srgbClr val="DCD7E5"/>
                </a:solidFill>
                <a:latin typeface="Heebo Light" pitchFamily="34" charset="0"/>
                <a:ea typeface="Heebo Light" pitchFamily="34" charset="-122"/>
                <a:cs typeface="Heebo Light" pitchFamily="34" charset="-120"/>
              </a:rPr>
              <a:t>Team worked together.</a:t>
            </a:r>
            <a:endParaRPr lang="en-US" sz="1750" dirty="0"/>
          </a:p>
        </p:txBody>
      </p:sp>
    </p:spTree>
    <p:extLst>
      <p:ext uri="{BB962C8B-B14F-4D97-AF65-F5344CB8AC3E}">
        <p14:creationId xmlns:p14="http://schemas.microsoft.com/office/powerpoint/2010/main" val="178872424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793790" y="1120259"/>
            <a:ext cx="10835521" cy="708779"/>
          </a:xfrm>
          <a:prstGeom prst="rect">
            <a:avLst/>
          </a:prstGeom>
          <a:noFill/>
          <a:ln/>
        </p:spPr>
        <p:txBody>
          <a:bodyPr wrap="none" lIns="0" tIns="0" rIns="0" bIns="0" rtlCol="0" anchor="t"/>
          <a:lstStyle/>
          <a:p>
            <a:pPr marL="0" indent="0">
              <a:lnSpc>
                <a:spcPts val="5550"/>
              </a:lnSpc>
              <a:buNone/>
            </a:pPr>
            <a:r>
              <a:rPr lang="en-US" sz="4450" dirty="0">
                <a:solidFill>
                  <a:srgbClr val="F2F0F4"/>
                </a:solidFill>
                <a:latin typeface="Montserrat" pitchFamily="34" charset="0"/>
                <a:ea typeface="Montserrat" pitchFamily="34" charset="-122"/>
                <a:cs typeface="Montserrat" pitchFamily="34" charset="-120"/>
              </a:rPr>
              <a:t>Web App Deployment using Streamlit</a:t>
            </a:r>
            <a:endParaRPr lang="en-US" sz="4450" dirty="0"/>
          </a:p>
        </p:txBody>
      </p:sp>
      <p:pic>
        <p:nvPicPr>
          <p:cNvPr id="5" name="Picture 4">
            <a:extLst>
              <a:ext uri="{FF2B5EF4-FFF2-40B4-BE49-F238E27FC236}">
                <a16:creationId xmlns:a16="http://schemas.microsoft.com/office/drawing/2014/main" id="{0696A813-1A83-43BE-9067-DE0485787886}"/>
              </a:ext>
            </a:extLst>
          </p:cNvPr>
          <p:cNvPicPr>
            <a:picLocks noChangeAspect="1"/>
          </p:cNvPicPr>
          <p:nvPr/>
        </p:nvPicPr>
        <p:blipFill>
          <a:blip r:embed="rId3"/>
          <a:stretch>
            <a:fillRect/>
          </a:stretch>
        </p:blipFill>
        <p:spPr>
          <a:xfrm>
            <a:off x="12738100" y="7341140"/>
            <a:ext cx="1895982" cy="905540"/>
          </a:xfrm>
          <a:prstGeom prst="rect">
            <a:avLst/>
          </a:prstGeom>
        </p:spPr>
      </p:pic>
      <p:pic>
        <p:nvPicPr>
          <p:cNvPr id="6" name="Picture 5">
            <a:extLst>
              <a:ext uri="{FF2B5EF4-FFF2-40B4-BE49-F238E27FC236}">
                <a16:creationId xmlns:a16="http://schemas.microsoft.com/office/drawing/2014/main" id="{AA19ABD6-3204-4411-9C05-5238D6C30DD4}"/>
              </a:ext>
            </a:extLst>
          </p:cNvPr>
          <p:cNvPicPr>
            <a:picLocks noChangeAspect="1"/>
          </p:cNvPicPr>
          <p:nvPr/>
        </p:nvPicPr>
        <p:blipFill>
          <a:blip r:embed="rId4"/>
          <a:stretch>
            <a:fillRect/>
          </a:stretch>
        </p:blipFill>
        <p:spPr>
          <a:xfrm>
            <a:off x="1955178" y="2036490"/>
            <a:ext cx="9909717" cy="5574216"/>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3" name="Text 0"/>
          <p:cNvSpPr/>
          <p:nvPr/>
        </p:nvSpPr>
        <p:spPr>
          <a:xfrm>
            <a:off x="793790" y="3099792"/>
            <a:ext cx="5670590" cy="708779"/>
          </a:xfrm>
          <a:prstGeom prst="rect">
            <a:avLst/>
          </a:prstGeom>
          <a:noFill/>
          <a:ln/>
        </p:spPr>
        <p:txBody>
          <a:bodyPr wrap="none" lIns="0" tIns="0" rIns="0" bIns="0" rtlCol="0" anchor="t"/>
          <a:lstStyle/>
          <a:p>
            <a:pPr marL="0" indent="0">
              <a:lnSpc>
                <a:spcPts val="5550"/>
              </a:lnSpc>
              <a:buNone/>
            </a:pPr>
            <a:r>
              <a:rPr lang="en-US" sz="4450" dirty="0">
                <a:solidFill>
                  <a:srgbClr val="F2F0F4"/>
                </a:solidFill>
                <a:latin typeface="Montserrat" pitchFamily="34" charset="0"/>
                <a:ea typeface="Montserrat" pitchFamily="34" charset="-122"/>
                <a:cs typeface="Montserrat" pitchFamily="34" charset="-120"/>
              </a:rPr>
              <a:t>Thank You!</a:t>
            </a:r>
            <a:endParaRPr lang="en-US" sz="4450" dirty="0"/>
          </a:p>
        </p:txBody>
      </p:sp>
      <p:sp>
        <p:nvSpPr>
          <p:cNvPr id="5" name="Text 2"/>
          <p:cNvSpPr/>
          <p:nvPr/>
        </p:nvSpPr>
        <p:spPr>
          <a:xfrm>
            <a:off x="793790" y="3932840"/>
            <a:ext cx="7556421" cy="362903"/>
          </a:xfrm>
          <a:prstGeom prst="rect">
            <a:avLst/>
          </a:prstGeom>
          <a:noFill/>
          <a:ln/>
        </p:spPr>
        <p:txBody>
          <a:bodyPr wrap="none" lIns="0" tIns="0" rIns="0" bIns="0" rtlCol="0" anchor="t"/>
          <a:lstStyle/>
          <a:p>
            <a:pPr marL="0" indent="0">
              <a:lnSpc>
                <a:spcPts val="2850"/>
              </a:lnSpc>
              <a:buNone/>
            </a:pPr>
            <a:r>
              <a:rPr lang="en-US" sz="1750" dirty="0">
                <a:solidFill>
                  <a:srgbClr val="DCD7E5"/>
                </a:solidFill>
                <a:latin typeface="Heebo Light" pitchFamily="34" charset="0"/>
                <a:ea typeface="Heebo Light" pitchFamily="34" charset="-122"/>
                <a:cs typeface="Heebo Light" pitchFamily="34" charset="-120"/>
              </a:rPr>
              <a:t>We are grateful for the opportunity to share our insights with you.</a:t>
            </a:r>
            <a:endParaRPr lang="en-US" sz="1750" dirty="0"/>
          </a:p>
        </p:txBody>
      </p:sp>
      <p:pic>
        <p:nvPicPr>
          <p:cNvPr id="6" name="Picture 5">
            <a:extLst>
              <a:ext uri="{FF2B5EF4-FFF2-40B4-BE49-F238E27FC236}">
                <a16:creationId xmlns:a16="http://schemas.microsoft.com/office/drawing/2014/main" id="{2009C327-60E0-49AE-A6D8-8FB6AD56F159}"/>
              </a:ext>
            </a:extLst>
          </p:cNvPr>
          <p:cNvPicPr>
            <a:picLocks noChangeAspect="1"/>
          </p:cNvPicPr>
          <p:nvPr/>
        </p:nvPicPr>
        <p:blipFill>
          <a:blip r:embed="rId3"/>
          <a:stretch>
            <a:fillRect/>
          </a:stretch>
        </p:blipFill>
        <p:spPr>
          <a:xfrm>
            <a:off x="12885683" y="7323046"/>
            <a:ext cx="1644610" cy="905540"/>
          </a:xfrm>
          <a:prstGeom prst="rect">
            <a:avLst/>
          </a:prstGeom>
        </p:spPr>
      </p:pic>
      <p:pic>
        <p:nvPicPr>
          <p:cNvPr id="8" name="Picture 7">
            <a:extLst>
              <a:ext uri="{FF2B5EF4-FFF2-40B4-BE49-F238E27FC236}">
                <a16:creationId xmlns:a16="http://schemas.microsoft.com/office/drawing/2014/main" id="{28A0FCAB-81B7-4502-86A2-D50AE50C0B74}"/>
              </a:ext>
            </a:extLst>
          </p:cNvPr>
          <p:cNvPicPr>
            <a:picLocks noChangeAspect="1"/>
          </p:cNvPicPr>
          <p:nvPr/>
        </p:nvPicPr>
        <p:blipFill>
          <a:blip r:embed="rId4">
            <a:extLst>
              <a:ext uri="{837473B0-CC2E-450A-ABE3-18F120FF3D39}">
                <a1611:picAttrSrcUrl xmlns:a1611="http://schemas.microsoft.com/office/drawing/2016/11/main" r:id="rId5"/>
              </a:ext>
            </a:extLst>
          </a:blip>
          <a:stretch>
            <a:fillRect/>
          </a:stretch>
        </p:blipFill>
        <p:spPr>
          <a:xfrm>
            <a:off x="8989545" y="0"/>
            <a:ext cx="5674625" cy="8228585"/>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124</TotalTime>
  <Words>341</Words>
  <Application>Microsoft Office PowerPoint</Application>
  <PresentationFormat>Custom</PresentationFormat>
  <Paragraphs>48</Paragraphs>
  <Slides>9</Slides>
  <Notes>8</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9</vt:i4>
      </vt:variant>
    </vt:vector>
  </HeadingPairs>
  <TitlesOfParts>
    <vt:vector size="14" baseType="lpstr">
      <vt:lpstr>Calibri</vt:lpstr>
      <vt:lpstr>Arial</vt:lpstr>
      <vt:lpstr>Montserrat</vt:lpstr>
      <vt:lpstr>Heebo Light</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HP</cp:lastModifiedBy>
  <cp:revision>15</cp:revision>
  <dcterms:created xsi:type="dcterms:W3CDTF">2024-11-07T12:43:13Z</dcterms:created>
  <dcterms:modified xsi:type="dcterms:W3CDTF">2024-12-22T08:43:53Z</dcterms:modified>
</cp:coreProperties>
</file>